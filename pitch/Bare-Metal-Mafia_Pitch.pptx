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5"/>
  </p:notesMasterIdLst>
  <p:sldIdLst>
    <p:sldId id="256" r:id="rId2"/>
    <p:sldId id="257" r:id="rId3"/>
    <p:sldId id="258" r:id="rId4"/>
    <p:sldId id="259" r:id="rId5"/>
    <p:sldId id="265" r:id="rId6"/>
    <p:sldId id="260" r:id="rId7"/>
    <p:sldId id="267" r:id="rId8"/>
    <p:sldId id="268" r:id="rId9"/>
    <p:sldId id="261" r:id="rId10"/>
    <p:sldId id="262" r:id="rId11"/>
    <p:sldId id="266" r:id="rId12"/>
    <p:sldId id="263" r:id="rId13"/>
    <p:sldId id="264" r:id="rId14"/>
  </p:sldIdLst>
  <p:sldSz cx="9144000" cy="5143500" type="screen16x9"/>
  <p:notesSz cx="6858000" cy="9144000"/>
  <p:embeddedFontLst>
    <p:embeddedFont>
      <p:font typeface="Consolas" panose="020B0609020204030204" pitchFamily="49" charset="0"/>
      <p:regular r:id="rId16"/>
      <p:bold r:id="rId17"/>
      <p:italic r:id="rId18"/>
      <p:boldItalic r:id="rId19"/>
    </p:embeddedFont>
    <p:embeddedFont>
      <p:font typeface="Inter" panose="02000503000000020004" pitchFamily="2" charset="0"/>
      <p:regular r:id="rId20"/>
      <p:bold r:id="rId21"/>
      <p:italic r:id="rId22"/>
      <p:boldItalic r:id="rId23"/>
    </p:embeddedFont>
    <p:embeddedFont>
      <p:font typeface="Inter ExtraBold" panose="02000503000000020004" pitchFamily="2" charset="0"/>
      <p:bold r:id="rId24"/>
      <p:italic r:id="rId25"/>
      <p:boldItalic r:id="rId26"/>
    </p:embeddedFont>
    <p:embeddedFont>
      <p:font typeface="Roboto" panose="02000000000000000000" pitchFamily="2" charset="0"/>
      <p:regular r:id="rId27"/>
      <p:bold r:id="rId28"/>
    </p:embeddedFont>
    <p:embeddedFont>
      <p:font typeface="Sora" pitchFamily="2"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82"/>
  </p:normalViewPr>
  <p:slideViewPr>
    <p:cSldViewPr snapToGrid="0">
      <p:cViewPr varScale="1">
        <p:scale>
          <a:sx n="169" d="100"/>
          <a:sy n="169" d="100"/>
        </p:scale>
        <p:origin x="192"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h6b2788cdbe65c0ea_1_0: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r>
              <a:t>(~20 s) Hi, we're Bare-Metal-Mafia. In the next nine minutes we'll show you Guardian Loop: a child presence safety feature that doesn't care what hardware sits underneath it. You can swap the car out from under it, and the brain stays the same.</a:t>
            </a:r>
          </a:p>
        </p:txBody>
      </p:sp>
      <p:sp>
        <p:nvSpPr>
          <p:cNvPr id="56" name="Google Shape;56;h6b2788cdbe65c0ea_1_0: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h6b2788cdbe65c0ea_1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h6b2788cdbe65c0ea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(~60 s) Every summer, children die in parked cars. A closed car in the sun heats up fast, and a small child can't open a door or a window.</a:t>
            </a:r>
          </a:p>
          <a:p>
            <a:r>
              <a:t>The fix sounds simple. Notice the child, watch the cabin temperature, decide how dangerous it is, and act: cool the cabin, open a window, raise the alarm. Sense, decide, act.</a:t>
            </a:r>
          </a:p>
          <a:p>
            <a:r>
              <a:t>The real challenge: software-defined vehicles keep changing underneath. Today a simulator, tomorrow a dev board, next year another supplier's ECU. So we set one rule: swap the hardware, never the logic. If changing a sensor forces a change in the Guardian, the design is wrong.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h6b2788cdbe65c0ea_1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h6b2788cdbe65c0ea_1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(~25 s) We're six students, five Bachelor and one Master: Dimitri, Elias, Katharina, Lars, Pria and Terra.</a:t>
            </a:r>
          </a:p>
          <a:p>
            <a:r>
              <a:t>Lars led the team and the AutoSD deployment, together with Dimitri, who also brought up the S32K148 and AZ3166 boards. Terra built the Telegram notification service. Elias built the Gazebo cabin and the ROS 2 to uProtocol bridge. Katharina owns the brain: the Guardian Loop logic. [Pria: add contribution]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h6b2788cdbe65c0ea_1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h6b2788cdbe65c0ea_1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(~75 s) Left to right.</a:t>
            </a:r>
          </a:p>
          <a:p>
            <a:r>
              <a:t>The senses: child presence and cabin temperature. They publish events over Eclipse uProtocol, the only language the Guardian speaks.</a:t>
            </a:r>
          </a:p>
          <a:p>
            <a:r>
              <a:t>In the middle the Guardian Loop, one container image. It runs inside AutoSD in a VM on our Raspberry Pi HPC; for the real-hardware demo the same container runs on the bare Pi.</a:t>
            </a:r>
          </a:p>
          <a:p>
            <a:r>
              <a:t>It's a small state machine: no child means CLEAR. Child at a comfortable temperature means MONITORING. 25 degrees is WARNING, 28.5 is CRITICAL. We lowered those from 32 and 40 so a hairdryer can drive the demo. CRITICAL triggers MITIGATING.</a:t>
            </a:r>
          </a:p>
          <a:p>
            <a:r>
              <a:t>The Guardian never touches hardware. It sends one RPC to the Actuation Adapter, which drives the ROS 2 air conditioning and, through the diagnostic adapter, today still simulated,, the OpenBSW window controller. If the AC doesn't fix it within 12 seconds, or reports a fault, the Guardian escalates: window 25 percent open, plus the alarm.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(~90 s) This is the slide that matters. We swapped three things underneath the Guardian.</a:t>
            </a:r>
          </a:p>
          <a:p>
            <a:r>
              <a:t>Visualisation: the dashboard, or a 3D Gazebo cabin with real physics, picked by a compose profile.</a:t>
            </a:r>
          </a:p>
          <a:p>
            <a:r>
              <a:t>Temperature: simulator, then the same sensor code on Eclipse ThreadX emulated in Renode, then a real AZ3166 board running ThreadX, over USB serial, bridged into uProtocol.</a:t>
            </a:r>
          </a:p>
          <a:p>
            <a:r>
              <a:t>Window: simulated controller, then a real NXP S32K148 running Eclipse OpenBSW. Real UDS WriteDataByIdentifier over DoIP and automotive Ethernet, with our own WindowPosition DID added to the firmware.</a:t>
            </a:r>
          </a:p>
          <a:p>
            <a:r>
              <a:t>And the Guardian? Not one hardware commit touched guardian.rs. It has zero lines of serial, CAN, DoIP or UDS code. It only knows uProtocol services. The golden rule held.</a:t>
            </a:r>
          </a:p>
          <a:p>
            <a:r>
              <a:t>The Guardian did get smarter during the hackathon, but only in its logic, never in its wiring. So the logic team and the hardware team never had to wait for each other.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6b2788cdbe65c0ea_1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h6b2788cdbe65c0ea_1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(~55 s) Why does this matter beyond a hackathon?</a:t>
            </a:r>
          </a:p>
          <a:p>
            <a:r>
              <a:t>Hardware-agnostic: OEMs can change suppliers or chips without touching the safety logic.</a:t>
            </a:r>
          </a:p>
          <a:p>
            <a:r>
              <a:t>Fail-safe: we added a second temperature sensor. If two sensors disagree by more than 5 degrees, both are marked broken. If every sensor is broken, the Guardian doesn't go quiet. It cools anyway, full fan, window open, alarm on. A missing sensor is not a safe cabin.</a:t>
            </a:r>
          </a:p>
          <a:p>
            <a:r>
              <a:t>Sim-first: every scenario runs in simulation first, so we tested the full escalation chain before a single board was flashed.</a:t>
            </a:r>
          </a:p>
          <a:p>
            <a:r>
              <a:t>Open stack: all Eclipse. uProtocol, ThreadX, OpenBSW, OpenSOVD, Muto, plus AutoSD. No vendor lock-in.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h6b2788cdbe65c0ea_1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h6b2788cdbe65c0ea_1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(~40 s) Why now? On average about 37 children die in hot cars in the US every year (noheatstroke.org, since 1998).</a:t>
            </a:r>
          </a:p>
          <a:p>
            <a:r>
              <a:t>In Europe, Euro NCAP rewards child presence detection, and since 2025 only direct sensing scores. So every car that wants five stars needs this.</a:t>
            </a:r>
          </a:p>
          <a:p>
            <a:r>
              <a:t>Analysts put the CPD market at around 2 billion dollars by 2034. Estimates vary a lot.</a:t>
            </a:r>
          </a:p>
          <a:p>
            <a:r>
              <a:t>Who is doing it? IEE, Vayyar, Valeo, Continental, Infineon. They sell sensor systems, mostly radar, tied to their own hardware.</a:t>
            </a:r>
          </a:p>
          <a:p>
            <a:r>
              <a:t>We don't sell a sensor. We sell the logic that works with any sensor, and that actually mitigates: cooling, window, alarm.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h6b2788cdbe65c0ea_1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h6b2788cdbe65c0ea_1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(~40 s) Three steps.</a:t>
            </a:r>
          </a:p>
          <a:p>
            <a:r>
              <a:t>One: the core stays open source in the Eclipse SDV ecosystem, free to adopt. That builds trust and reach.</a:t>
            </a:r>
          </a:p>
          <a:p>
            <a:r>
              <a:t>Two: we earn on integration. OEMs and Tier-1s pay for porting to their sensors and ECUs and for Euro NCAP validation support.</a:t>
            </a:r>
          </a:p>
          <a:p>
            <a:r>
              <a:t>Three: once in the car, we deliver new features over the air, new mitigation actions or bus and fleet variants, as licensed upgrades.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(~50 s) Honest status.</a:t>
            </a:r>
          </a:p>
          <a:p>
            <a:r>
              <a:t>Done: a real temperature sensor, a real window ECU, the Guardian running in AutoSD on a Pi, the fail-safe logic, dashboard and Telegram alerts.</a:t>
            </a:r>
          </a:p>
          <a:p>
            <a:r>
              <a:t>Next: openDuT, which switches the topology from simulation to hardware at the push of a button. That's the one Definition-of-Done item we didn't reach. Replacing our CDA simulator with the real OpenSOVD CDA. A cold warning: implemented on a branch, not merged yet. Humidity in the decision: we already measure it, and a body overheats faster in humid air. And sensor confidence plus rate of rise, so we escalate before the threshold.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h6b2788cdbe65c0ea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h6b2788cdbe65c0ea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(~15 s) Everything is open source on GitHub. Scan the code. Come find us and we'll run the hairdryer demo live.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h6b2788cdbe65c0ea_1_65: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r>
              <a:t>(~10 s) Thank you. Questions?</a:t>
            </a:r>
          </a:p>
        </p:txBody>
      </p:sp>
      <p:sp>
        <p:nvSpPr>
          <p:cNvPr id="130" name="Google Shape;130;h6b2788cdbe65c0ea_1_65: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57"/>
        <p:cNvGrpSpPr/>
        <p:nvPr/>
      </p:nvGrpSpPr>
      <p:grpSpPr>
        <a:xfrm>
          <a:off x="0" y="0"/>
          <a:ext cx="0" cy="0"/>
          <a:chOff x="0" y="0"/>
          <a:chExt cx="0" cy="0"/>
        </a:xfrm>
      </p:grpSpPr>
      <p:grpSp>
        <p:nvGrpSpPr>
          <p:cNvPr id="58" name="Google Shape;58;p14"/>
          <p:cNvGrpSpPr/>
          <p:nvPr/>
        </p:nvGrpSpPr>
        <p:grpSpPr>
          <a:xfrm>
            <a:off x="597450" y="4235100"/>
            <a:ext cx="2423155" cy="456311"/>
            <a:chOff x="0" y="-9525"/>
            <a:chExt cx="1344032" cy="415925"/>
          </a:xfrm>
        </p:grpSpPr>
        <p:sp>
          <p:nvSpPr>
            <p:cNvPr id="59" name="Google Shape;59;p14"/>
            <p:cNvSpPr/>
            <p:nvPr/>
          </p:nvSpPr>
          <p:spPr>
            <a:xfrm>
              <a:off x="0" y="0"/>
              <a:ext cx="1344032" cy="406400"/>
            </a:xfrm>
            <a:custGeom>
              <a:avLst/>
              <a:gdLst/>
              <a:ahLst/>
              <a:cxnLst/>
              <a:rect l="l" t="t" r="r" b="b"/>
              <a:pathLst>
                <a:path w="1344032" h="406400" extrusionOk="0">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w="13850" cap="sq" cmpd="sng">
              <a:solidFill>
                <a:srgbClr val="000000"/>
              </a:solidFill>
              <a:prstDash val="solid"/>
              <a:miter lim="8000"/>
              <a:headEnd type="none" w="sm" len="sm"/>
              <a:tailEnd type="none" w="sm" len="sm"/>
            </a:ln>
          </p:spPr>
          <p:txBody>
            <a:bodyPr spcFirstLastPara="1" wrap="square" lIns="66450" tIns="66450" rIns="66450" bIns="66450" anchor="ctr" anchorCtr="0">
              <a:noAutofit/>
            </a:bodyPr>
            <a:lstStyle/>
            <a:p>
              <a:pPr marL="0" lvl="0" indent="0" algn="l" rtl="0">
                <a:spcBef>
                  <a:spcPts val="0"/>
                </a:spcBef>
                <a:spcAft>
                  <a:spcPts val="0"/>
                </a:spcAft>
                <a:buNone/>
              </a:pPr>
              <a:endParaRPr/>
            </a:p>
          </p:txBody>
        </p:sp>
        <p:sp>
          <p:nvSpPr>
            <p:cNvPr id="60" name="Google Shape;60;p14"/>
            <p:cNvSpPr txBox="1"/>
            <p:nvPr/>
          </p:nvSpPr>
          <p:spPr>
            <a:xfrm>
              <a:off x="0" y="-9525"/>
              <a:ext cx="1344000" cy="415800"/>
            </a:xfrm>
            <a:prstGeom prst="rect">
              <a:avLst/>
            </a:prstGeom>
            <a:noFill/>
            <a:ln>
              <a:noFill/>
            </a:ln>
          </p:spPr>
          <p:txBody>
            <a:bodyPr spcFirstLastPara="1" wrap="square" lIns="36900" tIns="36900" rIns="36900" bIns="36900" anchor="ctr" anchorCtr="0">
              <a:noAutofit/>
            </a:bodyPr>
            <a:lstStyle/>
            <a:p>
              <a:pPr marL="0" marR="0" lvl="0" indent="0" algn="ctr" rtl="0">
                <a:lnSpc>
                  <a:spcPct val="120000"/>
                </a:lnSpc>
                <a:spcBef>
                  <a:spcPts val="0"/>
                </a:spcBef>
                <a:spcAft>
                  <a:spcPts val="0"/>
                </a:spcAft>
                <a:buNone/>
              </a:pPr>
              <a:endParaRPr sz="1308" b="0" i="0" u="none" strike="noStrike" cap="none">
                <a:solidFill>
                  <a:schemeClr val="dk1"/>
                </a:solidFill>
                <a:latin typeface="Calibri"/>
                <a:ea typeface="Calibri"/>
                <a:cs typeface="Calibri"/>
                <a:sym typeface="Calibri"/>
              </a:endParaRPr>
            </a:p>
          </p:txBody>
        </p:sp>
      </p:grpSp>
      <p:sp>
        <p:nvSpPr>
          <p:cNvPr id="61" name="Google Shape;61;p14"/>
          <p:cNvSpPr txBox="1"/>
          <p:nvPr/>
        </p:nvSpPr>
        <p:spPr>
          <a:xfrm>
            <a:off x="531150" y="1979650"/>
            <a:ext cx="5610600" cy="456300"/>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b="0" i="0" u="none" strike="noStrike" cap="none">
                <a:solidFill>
                  <a:srgbClr val="FFFFFF"/>
                </a:solidFill>
                <a:latin typeface="Arial"/>
                <a:ea typeface="Arial"/>
                <a:cs typeface="Arial"/>
                <a:sym typeface="Arial"/>
              </a:rPr>
              <a:t>Eclipse SDV Hackathon</a:t>
            </a:r>
            <a:r>
              <a:rPr lang="en" sz="2800">
                <a:solidFill>
                  <a:srgbClr val="FFFFFF"/>
                </a:solidFill>
              </a:rPr>
              <a:t> </a:t>
            </a:r>
            <a:r>
              <a:rPr lang="en" sz="2800" b="1">
                <a:solidFill>
                  <a:srgbClr val="DB521D"/>
                </a:solidFill>
              </a:rPr>
              <a:t>Chapter 4</a:t>
            </a:r>
            <a:endParaRPr sz="2800" b="1">
              <a:solidFill>
                <a:srgbClr val="DB521D"/>
              </a:solidFill>
            </a:endParaRPr>
          </a:p>
          <a:p>
            <a:pPr marL="0" marR="0" lvl="0" indent="0" algn="l" rtl="0">
              <a:lnSpc>
                <a:spcPct val="97999"/>
              </a:lnSpc>
              <a:spcBef>
                <a:spcPts val="0"/>
              </a:spcBef>
              <a:spcAft>
                <a:spcPts val="0"/>
              </a:spcAft>
              <a:buNone/>
            </a:pPr>
            <a:endParaRPr sz="100"/>
          </a:p>
        </p:txBody>
      </p:sp>
      <p:grpSp>
        <p:nvGrpSpPr>
          <p:cNvPr id="62" name="Google Shape;62;p14"/>
          <p:cNvGrpSpPr/>
          <p:nvPr/>
        </p:nvGrpSpPr>
        <p:grpSpPr>
          <a:xfrm>
            <a:off x="560650" y="2571750"/>
            <a:ext cx="4855381" cy="958407"/>
            <a:chOff x="0" y="-9525"/>
            <a:chExt cx="935400" cy="374100"/>
          </a:xfrm>
        </p:grpSpPr>
        <p:sp>
          <p:nvSpPr>
            <p:cNvPr id="63" name="Google Shape;63;p14"/>
            <p:cNvSpPr/>
            <p:nvPr/>
          </p:nvSpPr>
          <p:spPr>
            <a:xfrm>
              <a:off x="0" y="0"/>
              <a:ext cx="935371" cy="364517"/>
            </a:xfrm>
            <a:custGeom>
              <a:avLst/>
              <a:gdLst/>
              <a:ahLst/>
              <a:cxnLst/>
              <a:rect l="l" t="t" r="r" b="b"/>
              <a:pathLst>
                <a:path w="935371" h="364517" extrusionOk="0">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w="9525" cap="sq" cmpd="sng">
              <a:solidFill>
                <a:srgbClr val="000000"/>
              </a:solidFill>
              <a:prstDash val="solid"/>
              <a:miter lim="8000"/>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4"/>
            <p:cNvSpPr txBox="1"/>
            <p:nvPr/>
          </p:nvSpPr>
          <p:spPr>
            <a:xfrm>
              <a:off x="0" y="-9525"/>
              <a:ext cx="935400" cy="374100"/>
            </a:xfrm>
            <a:prstGeom prst="rect">
              <a:avLst/>
            </a:prstGeom>
            <a:noFill/>
            <a:ln>
              <a:noFill/>
            </a:ln>
          </p:spPr>
          <p:txBody>
            <a:bodyPr spcFirstLastPara="1" wrap="square" lIns="25400" tIns="25400" rIns="25400" bIns="25400" anchor="ctr" anchorCtr="0">
              <a:noAutofit/>
            </a:bodyPr>
            <a:lstStyle/>
            <a:p>
              <a:pPr marL="0" marR="0" lvl="0" indent="0" algn="ctr" rtl="0">
                <a:lnSpc>
                  <a:spcPct val="120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5" name="Google Shape;65;p14"/>
          <p:cNvSpPr txBox="1"/>
          <p:nvPr/>
        </p:nvSpPr>
        <p:spPr>
          <a:xfrm>
            <a:off x="928825" y="4362650"/>
            <a:ext cx="1760400" cy="169200"/>
          </a:xfrm>
          <a:prstGeom prst="rect">
            <a:avLst/>
          </a:prstGeom>
          <a:noFill/>
          <a:ln>
            <a:noFill/>
          </a:ln>
        </p:spPr>
        <p:txBody>
          <a:bodyPr spcFirstLastPara="1" wrap="square" lIns="0" tIns="0" rIns="0" bIns="0" anchor="t" anchorCtr="0">
            <a:spAutoFit/>
          </a:bodyPr>
          <a:lstStyle/>
          <a:p>
            <a:pPr marL="0" marR="0" lvl="0" indent="0" algn="ctr" rtl="0">
              <a:lnSpc>
                <a:spcPct val="120008"/>
              </a:lnSpc>
              <a:spcBef>
                <a:spcPts val="0"/>
              </a:spcBef>
              <a:spcAft>
                <a:spcPts val="0"/>
              </a:spcAft>
              <a:buNone/>
            </a:pPr>
            <a:r>
              <a:rPr lang="en" sz="1100" b="1">
                <a:solidFill>
                  <a:srgbClr val="FFFFFF"/>
                </a:solidFill>
                <a:latin typeface="Sora"/>
                <a:ea typeface="Sora"/>
                <a:cs typeface="Sora"/>
                <a:sym typeface="Sora"/>
              </a:rPr>
              <a:t>October 6-8 </a:t>
            </a:r>
            <a:r>
              <a:rPr lang="en" sz="1100" b="1" i="0" u="none" strike="noStrike" cap="none">
                <a:solidFill>
                  <a:srgbClr val="FFFFFF"/>
                </a:solidFill>
                <a:latin typeface="Sora"/>
                <a:ea typeface="Sora"/>
                <a:cs typeface="Sora"/>
                <a:sym typeface="Sora"/>
              </a:rPr>
              <a:t> 2026</a:t>
            </a:r>
            <a:endParaRPr sz="700" b="1">
              <a:latin typeface="Sora"/>
              <a:ea typeface="Sora"/>
              <a:cs typeface="Sora"/>
              <a:sym typeface="Sora"/>
            </a:endParaRPr>
          </a:p>
        </p:txBody>
      </p:sp>
      <p:cxnSp>
        <p:nvCxnSpPr>
          <p:cNvPr id="66" name="Google Shape;66;p14"/>
          <p:cNvCxnSpPr/>
          <p:nvPr/>
        </p:nvCxnSpPr>
        <p:spPr>
          <a:xfrm>
            <a:off x="656394" y="3946404"/>
            <a:ext cx="2148300" cy="0"/>
          </a:xfrm>
          <a:prstGeom prst="straightConnector1">
            <a:avLst/>
          </a:prstGeom>
          <a:noFill/>
          <a:ln w="19050" cap="flat" cmpd="sng">
            <a:solidFill>
              <a:srgbClr val="000000"/>
            </a:solidFill>
            <a:prstDash val="solid"/>
            <a:round/>
            <a:headEnd type="none" w="sm" len="sm"/>
            <a:tailEnd type="none" w="sm" len="sm"/>
          </a:ln>
        </p:spPr>
      </p:cxnSp>
      <p:sp>
        <p:nvSpPr>
          <p:cNvPr id="67" name="Google Shape;67;p14"/>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de-DE"/>
          </a:p>
        </p:txBody>
      </p:sp>
      <p:sp>
        <p:nvSpPr>
          <p:cNvPr id="68" name="Google Shape;68;p14"/>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de-DE"/>
          </a:p>
        </p:txBody>
      </p:sp>
      <p:pic>
        <p:nvPicPr>
          <p:cNvPr id="69" name="Google Shape;69;p14"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70" name="Google Shape;70;p14"/>
          <p:cNvSpPr txBox="1"/>
          <p:nvPr/>
        </p:nvSpPr>
        <p:spPr>
          <a:xfrm>
            <a:off x="850225" y="2693325"/>
            <a:ext cx="4122600" cy="70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lt1"/>
                </a:solidFill>
                <a:latin typeface="Inter"/>
                <a:ea typeface="Inter"/>
                <a:cs typeface="Inter"/>
                <a:sym typeface="Inter"/>
              </a:rPr>
              <a:t>Bare-Metal-Mafia</a:t>
            </a:r>
            <a:endParaRPr sz="1800" b="1">
              <a:solidFill>
                <a:schemeClr val="lt1"/>
              </a:solidFill>
              <a:latin typeface="Inter"/>
              <a:ea typeface="Inter"/>
              <a:cs typeface="Inter"/>
              <a:sym typeface="Inter"/>
            </a:endParaRPr>
          </a:p>
          <a:p>
            <a:pPr algn="ctr"/>
            <a:r>
              <a:rPr sz="1400" b="0">
                <a:solidFill>
                  <a:srgbClr val="F4A27E"/>
                </a:solidFill>
                <a:latin typeface="Inter"/>
              </a:rPr>
              <a:t>Guardian Loop · swap the car, keep the brain</a:t>
            </a:r>
          </a:p>
        </p:txBody>
      </p:sp>
      <p:sp>
        <p:nvSpPr>
          <p:cNvPr id="71" name="Google Shape;71;p14"/>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9" name="Google Shape;79;p15"/>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Plan</a:t>
            </a:r>
            <a:endParaRPr sz="400">
              <a:latin typeface="Inter ExtraBold"/>
              <a:ea typeface="Inter ExtraBold"/>
              <a:cs typeface="Inter ExtraBold"/>
              <a:sym typeface="Inter ExtraBold"/>
            </a:endParaRPr>
          </a:p>
        </p:txBody>
      </p:sp>
      <p:sp>
        <p:nvSpPr>
          <p:cNvPr id="80" name="TextBox 79"/>
          <p:cNvSpPr txBox="1"/>
          <p:nvPr/>
        </p:nvSpPr>
        <p:spPr>
          <a:xfrm>
            <a:off x="731520" y="1234440"/>
            <a:ext cx="3108960" cy="274320"/>
          </a:xfrm>
          <a:prstGeom prst="rect">
            <a:avLst/>
          </a:prstGeom>
          <a:noFill/>
        </p:spPr>
        <p:txBody>
          <a:bodyPr wrap="square" lIns="0" tIns="0" rIns="0" bIns="0" anchor="t">
            <a:spAutoFit/>
          </a:bodyPr>
          <a:lstStyle/>
          <a:p>
            <a:pPr algn="l"/>
            <a:r>
              <a:rPr sz="1200" b="1" i="0">
                <a:solidFill>
                  <a:srgbClr val="DB521D"/>
                </a:solidFill>
                <a:latin typeface="Inter"/>
              </a:rPr>
              <a:t>Problem</a:t>
            </a:r>
          </a:p>
        </p:txBody>
      </p:sp>
      <p:sp>
        <p:nvSpPr>
          <p:cNvPr id="81" name="Oval 80"/>
          <p:cNvSpPr/>
          <p:nvPr/>
        </p:nvSpPr>
        <p:spPr>
          <a:xfrm>
            <a:off x="868680" y="1691640"/>
            <a:ext cx="914400" cy="914400"/>
          </a:xfrm>
          <a:prstGeom prst="ellipse">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000" b="1" i="0">
                <a:solidFill>
                  <a:srgbClr val="FFFFFF"/>
                </a:solidFill>
                <a:latin typeface="Inter"/>
              </a:rPr>
              <a:t>👶</a:t>
            </a:r>
          </a:p>
        </p:txBody>
      </p:sp>
      <p:sp>
        <p:nvSpPr>
          <p:cNvPr id="82" name="TextBox 81"/>
          <p:cNvSpPr txBox="1"/>
          <p:nvPr/>
        </p:nvSpPr>
        <p:spPr>
          <a:xfrm>
            <a:off x="1874519" y="1874519"/>
            <a:ext cx="365760" cy="548640"/>
          </a:xfrm>
          <a:prstGeom prst="rect">
            <a:avLst/>
          </a:prstGeom>
          <a:noFill/>
        </p:spPr>
        <p:txBody>
          <a:bodyPr wrap="square" lIns="0" tIns="0" rIns="0" bIns="0" anchor="t">
            <a:spAutoFit/>
          </a:bodyPr>
          <a:lstStyle/>
          <a:p>
            <a:pPr algn="ctr"/>
            <a:r>
              <a:rPr sz="2800" b="1" i="0">
                <a:solidFill>
                  <a:srgbClr val="DB521D"/>
                </a:solidFill>
                <a:latin typeface="Inter"/>
              </a:rPr>
              <a:t>+</a:t>
            </a:r>
          </a:p>
        </p:txBody>
      </p:sp>
      <p:sp>
        <p:nvSpPr>
          <p:cNvPr id="83" name="Oval 82"/>
          <p:cNvSpPr/>
          <p:nvPr/>
        </p:nvSpPr>
        <p:spPr>
          <a:xfrm>
            <a:off x="2331720" y="1691640"/>
            <a:ext cx="914400" cy="914400"/>
          </a:xfrm>
          <a:prstGeom prst="ellipse">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000" b="1" i="0">
                <a:solidFill>
                  <a:srgbClr val="FFFFFF"/>
                </a:solidFill>
                <a:latin typeface="Inter"/>
              </a:rPr>
              <a:t>🌡️</a:t>
            </a:r>
          </a:p>
        </p:txBody>
      </p:sp>
      <p:sp>
        <p:nvSpPr>
          <p:cNvPr id="84" name="TextBox 83"/>
          <p:cNvSpPr txBox="1"/>
          <p:nvPr/>
        </p:nvSpPr>
        <p:spPr>
          <a:xfrm>
            <a:off x="777240" y="2697480"/>
            <a:ext cx="1097280" cy="274320"/>
          </a:xfrm>
          <a:prstGeom prst="rect">
            <a:avLst/>
          </a:prstGeom>
          <a:noFill/>
        </p:spPr>
        <p:txBody>
          <a:bodyPr wrap="square" lIns="0" tIns="0" rIns="0" bIns="0" anchor="t">
            <a:spAutoFit/>
          </a:bodyPr>
          <a:lstStyle/>
          <a:p>
            <a:pPr algn="ctr"/>
            <a:r>
              <a:rPr sz="1100" b="0" i="0">
                <a:solidFill>
                  <a:srgbClr val="595959"/>
                </a:solidFill>
                <a:latin typeface="Inter"/>
              </a:rPr>
              <a:t>left behind</a:t>
            </a:r>
          </a:p>
        </p:txBody>
      </p:sp>
      <p:sp>
        <p:nvSpPr>
          <p:cNvPr id="85" name="TextBox 84"/>
          <p:cNvSpPr txBox="1"/>
          <p:nvPr/>
        </p:nvSpPr>
        <p:spPr>
          <a:xfrm>
            <a:off x="2240280" y="2697480"/>
            <a:ext cx="1097280" cy="274320"/>
          </a:xfrm>
          <a:prstGeom prst="rect">
            <a:avLst/>
          </a:prstGeom>
          <a:noFill/>
        </p:spPr>
        <p:txBody>
          <a:bodyPr wrap="square" lIns="0" tIns="0" rIns="0" bIns="0" anchor="t">
            <a:spAutoFit/>
          </a:bodyPr>
          <a:lstStyle/>
          <a:p>
            <a:pPr algn="ctr"/>
            <a:r>
              <a:rPr sz="1100" b="0" i="0">
                <a:solidFill>
                  <a:srgbClr val="595959"/>
                </a:solidFill>
                <a:latin typeface="Inter"/>
              </a:rPr>
              <a:t>hot cabin</a:t>
            </a:r>
          </a:p>
        </p:txBody>
      </p:sp>
      <p:sp>
        <p:nvSpPr>
          <p:cNvPr id="86" name="TextBox 85"/>
          <p:cNvSpPr txBox="1"/>
          <p:nvPr/>
        </p:nvSpPr>
        <p:spPr>
          <a:xfrm>
            <a:off x="4160520" y="1234440"/>
            <a:ext cx="4114800" cy="274320"/>
          </a:xfrm>
          <a:prstGeom prst="rect">
            <a:avLst/>
          </a:prstGeom>
          <a:noFill/>
        </p:spPr>
        <p:txBody>
          <a:bodyPr wrap="square" lIns="0" tIns="0" rIns="0" bIns="0" anchor="t">
            <a:spAutoFit/>
          </a:bodyPr>
          <a:lstStyle/>
          <a:p>
            <a:pPr algn="l"/>
            <a:r>
              <a:rPr sz="1200" b="1" i="0">
                <a:solidFill>
                  <a:srgbClr val="701C7F"/>
                </a:solidFill>
                <a:latin typeface="Inter"/>
              </a:rPr>
              <a:t>Solution</a:t>
            </a:r>
          </a:p>
        </p:txBody>
      </p:sp>
      <p:sp>
        <p:nvSpPr>
          <p:cNvPr id="87" name="Rounded Rectangle 86"/>
          <p:cNvSpPr/>
          <p:nvPr/>
        </p:nvSpPr>
        <p:spPr>
          <a:xfrm>
            <a:off x="4160520" y="1783080"/>
            <a:ext cx="1143000" cy="73152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531B4C"/>
                </a:solidFill>
                <a:latin typeface="Inter"/>
              </a:rPr>
              <a:t>Sense</a:t>
            </a:r>
          </a:p>
          <a:p>
            <a:pPr algn="ctr"/>
            <a:r>
              <a:rPr sz="900" b="0" i="0">
                <a:solidFill>
                  <a:srgbClr val="531B4C"/>
                </a:solidFill>
                <a:latin typeface="Inter"/>
              </a:rPr>
              <a:t>child · temp</a:t>
            </a:r>
          </a:p>
        </p:txBody>
      </p:sp>
      <p:sp>
        <p:nvSpPr>
          <p:cNvPr id="88" name="Rounded Rectangle 87"/>
          <p:cNvSpPr/>
          <p:nvPr/>
        </p:nvSpPr>
        <p:spPr>
          <a:xfrm>
            <a:off x="5623560" y="1783080"/>
            <a:ext cx="1143000" cy="73152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dirty="0">
                <a:solidFill>
                  <a:srgbClr val="FFFFFF"/>
                </a:solidFill>
                <a:latin typeface="Inter"/>
              </a:rPr>
              <a:t>Guardian</a:t>
            </a:r>
          </a:p>
          <a:p>
            <a:pPr algn="ctr"/>
            <a:r>
              <a:rPr sz="900" b="0" i="0" dirty="0">
                <a:solidFill>
                  <a:srgbClr val="FFFFFF"/>
                </a:solidFill>
                <a:latin typeface="Inter"/>
              </a:rPr>
              <a:t>decide</a:t>
            </a:r>
          </a:p>
        </p:txBody>
      </p:sp>
      <p:sp>
        <p:nvSpPr>
          <p:cNvPr id="89" name="Rounded Rectangle 88"/>
          <p:cNvSpPr/>
          <p:nvPr/>
        </p:nvSpPr>
        <p:spPr>
          <a:xfrm>
            <a:off x="7086600" y="1783080"/>
            <a:ext cx="1143000" cy="73152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531B4C"/>
                </a:solidFill>
                <a:latin typeface="Inter"/>
              </a:rPr>
              <a:t>Act</a:t>
            </a:r>
          </a:p>
          <a:p>
            <a:pPr algn="ctr"/>
            <a:r>
              <a:rPr sz="900" b="0" i="0">
                <a:solidFill>
                  <a:srgbClr val="531B4C"/>
                </a:solidFill>
                <a:latin typeface="Inter"/>
              </a:rPr>
              <a:t>cool · window · alarm</a:t>
            </a:r>
          </a:p>
        </p:txBody>
      </p:sp>
      <p:cxnSp>
        <p:nvCxnSpPr>
          <p:cNvPr id="90" name="Connector 89"/>
          <p:cNvCxnSpPr/>
          <p:nvPr/>
        </p:nvCxnSpPr>
        <p:spPr>
          <a:xfrm>
            <a:off x="5303520" y="2148840"/>
            <a:ext cx="320040" cy="0"/>
          </a:xfrm>
          <a:prstGeom prst="line">
            <a:avLst/>
          </a:prstGeom>
          <a:ln w="22225">
            <a:solidFill>
              <a:srgbClr val="701C7F"/>
            </a:solidFill>
            <a:tailEnd type="triangle"/>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766560" y="2148840"/>
            <a:ext cx="320040" cy="0"/>
          </a:xfrm>
          <a:prstGeom prst="line">
            <a:avLst/>
          </a:prstGeom>
          <a:ln w="22225">
            <a:solidFill>
              <a:srgbClr val="701C7F"/>
            </a:solidFill>
            <a:tailEnd type="triangle"/>
          </a:ln>
        </p:spPr>
        <p:style>
          <a:lnRef idx="2">
            <a:schemeClr val="accent1"/>
          </a:lnRef>
          <a:fillRef idx="0">
            <a:schemeClr val="accent1"/>
          </a:fillRef>
          <a:effectRef idx="1">
            <a:schemeClr val="accent1"/>
          </a:effectRef>
          <a:fontRef idx="minor">
            <a:schemeClr val="tx1"/>
          </a:fontRef>
        </p:style>
      </p:cxnSp>
      <p:sp>
        <p:nvSpPr>
          <p:cNvPr id="92" name="Rounded Rectangle 91"/>
          <p:cNvSpPr/>
          <p:nvPr/>
        </p:nvSpPr>
        <p:spPr>
          <a:xfrm>
            <a:off x="731520" y="3337560"/>
            <a:ext cx="7498079" cy="68580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One rule:  </a:t>
            </a:r>
            <a:r>
              <a:rPr sz="1800" b="1" i="0">
                <a:solidFill>
                  <a:srgbClr val="531B4C"/>
                </a:solidFill>
                <a:latin typeface="Inter"/>
              </a:rPr>
              <a:t>swap the hardware, never the logic.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85" name="Google Shape;85;p16"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87" name="Google Shape;87;p16"/>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Team</a:t>
            </a:r>
            <a:endParaRPr sz="400">
              <a:latin typeface="Inter ExtraBold"/>
              <a:ea typeface="Inter ExtraBold"/>
              <a:cs typeface="Inter ExtraBold"/>
              <a:sym typeface="Inter ExtraBold"/>
            </a:endParaRPr>
          </a:p>
        </p:txBody>
      </p:sp>
      <p:sp>
        <p:nvSpPr>
          <p:cNvPr id="88" name="Rounded Rectangle 87"/>
          <p:cNvSpPr/>
          <p:nvPr/>
        </p:nvSpPr>
        <p:spPr>
          <a:xfrm>
            <a:off x="731520" y="137160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89" name="Oval 88"/>
          <p:cNvSpPr/>
          <p:nvPr/>
        </p:nvSpPr>
        <p:spPr>
          <a:xfrm>
            <a:off x="960120" y="160020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D</a:t>
            </a:r>
          </a:p>
        </p:txBody>
      </p:sp>
      <p:sp>
        <p:nvSpPr>
          <p:cNvPr id="90" name="TextBox 89"/>
          <p:cNvSpPr txBox="1"/>
          <p:nvPr/>
        </p:nvSpPr>
        <p:spPr>
          <a:xfrm>
            <a:off x="1828800" y="1645920"/>
            <a:ext cx="1188720" cy="320040"/>
          </a:xfrm>
          <a:prstGeom prst="rect">
            <a:avLst/>
          </a:prstGeom>
          <a:noFill/>
        </p:spPr>
        <p:txBody>
          <a:bodyPr wrap="square" lIns="0" tIns="0" rIns="0" bIns="0" anchor="t">
            <a:spAutoFit/>
          </a:bodyPr>
          <a:lstStyle/>
          <a:p>
            <a:pPr algn="l"/>
            <a:r>
              <a:rPr sz="1600" b="1" i="0">
                <a:solidFill>
                  <a:srgbClr val="531B4C"/>
                </a:solidFill>
                <a:latin typeface="Inter"/>
              </a:rPr>
              <a:t>Dimitri</a:t>
            </a:r>
          </a:p>
        </p:txBody>
      </p:sp>
      <p:sp>
        <p:nvSpPr>
          <p:cNvPr id="91" name="TextBox 90"/>
          <p:cNvSpPr txBox="1"/>
          <p:nvPr/>
        </p:nvSpPr>
        <p:spPr>
          <a:xfrm>
            <a:off x="1828800" y="2029967"/>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92" name="Rounded Rectangle 91"/>
          <p:cNvSpPr/>
          <p:nvPr/>
        </p:nvSpPr>
        <p:spPr>
          <a:xfrm>
            <a:off x="3314700" y="137160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3" name="Oval 92"/>
          <p:cNvSpPr/>
          <p:nvPr/>
        </p:nvSpPr>
        <p:spPr>
          <a:xfrm>
            <a:off x="3543300" y="160020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E</a:t>
            </a:r>
          </a:p>
        </p:txBody>
      </p:sp>
      <p:sp>
        <p:nvSpPr>
          <p:cNvPr id="94" name="TextBox 93"/>
          <p:cNvSpPr txBox="1"/>
          <p:nvPr/>
        </p:nvSpPr>
        <p:spPr>
          <a:xfrm>
            <a:off x="4411980" y="1645920"/>
            <a:ext cx="1188720" cy="320040"/>
          </a:xfrm>
          <a:prstGeom prst="rect">
            <a:avLst/>
          </a:prstGeom>
          <a:noFill/>
        </p:spPr>
        <p:txBody>
          <a:bodyPr wrap="square" lIns="0" tIns="0" rIns="0" bIns="0" anchor="t">
            <a:spAutoFit/>
          </a:bodyPr>
          <a:lstStyle/>
          <a:p>
            <a:pPr algn="l"/>
            <a:r>
              <a:rPr sz="1600" b="1" i="0">
                <a:solidFill>
                  <a:srgbClr val="531B4C"/>
                </a:solidFill>
                <a:latin typeface="Inter"/>
              </a:rPr>
              <a:t>Elias</a:t>
            </a:r>
          </a:p>
        </p:txBody>
      </p:sp>
      <p:sp>
        <p:nvSpPr>
          <p:cNvPr id="95" name="TextBox 94"/>
          <p:cNvSpPr txBox="1"/>
          <p:nvPr/>
        </p:nvSpPr>
        <p:spPr>
          <a:xfrm>
            <a:off x="4411980" y="2029967"/>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96" name="Rounded Rectangle 95"/>
          <p:cNvSpPr/>
          <p:nvPr/>
        </p:nvSpPr>
        <p:spPr>
          <a:xfrm>
            <a:off x="5897880" y="137160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7" name="Oval 96"/>
          <p:cNvSpPr/>
          <p:nvPr/>
        </p:nvSpPr>
        <p:spPr>
          <a:xfrm>
            <a:off x="6126480" y="160020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K</a:t>
            </a:r>
          </a:p>
        </p:txBody>
      </p:sp>
      <p:sp>
        <p:nvSpPr>
          <p:cNvPr id="98" name="TextBox 97"/>
          <p:cNvSpPr txBox="1"/>
          <p:nvPr/>
        </p:nvSpPr>
        <p:spPr>
          <a:xfrm>
            <a:off x="6995160" y="1645920"/>
            <a:ext cx="1188720" cy="320040"/>
          </a:xfrm>
          <a:prstGeom prst="rect">
            <a:avLst/>
          </a:prstGeom>
          <a:noFill/>
        </p:spPr>
        <p:txBody>
          <a:bodyPr wrap="square" lIns="0" tIns="0" rIns="0" bIns="0" anchor="t">
            <a:spAutoFit/>
          </a:bodyPr>
          <a:lstStyle/>
          <a:p>
            <a:pPr algn="l"/>
            <a:r>
              <a:rPr sz="1600" b="1" i="0">
                <a:solidFill>
                  <a:srgbClr val="531B4C"/>
                </a:solidFill>
                <a:latin typeface="Inter"/>
              </a:rPr>
              <a:t>Katharina</a:t>
            </a:r>
          </a:p>
        </p:txBody>
      </p:sp>
      <p:sp>
        <p:nvSpPr>
          <p:cNvPr id="99" name="TextBox 98"/>
          <p:cNvSpPr txBox="1"/>
          <p:nvPr/>
        </p:nvSpPr>
        <p:spPr>
          <a:xfrm>
            <a:off x="6995160" y="2029967"/>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100" name="Rounded Rectangle 99"/>
          <p:cNvSpPr/>
          <p:nvPr/>
        </p:nvSpPr>
        <p:spPr>
          <a:xfrm>
            <a:off x="731520" y="283464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1" name="Oval 100"/>
          <p:cNvSpPr/>
          <p:nvPr/>
        </p:nvSpPr>
        <p:spPr>
          <a:xfrm>
            <a:off x="960120" y="306324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L</a:t>
            </a:r>
          </a:p>
        </p:txBody>
      </p:sp>
      <p:sp>
        <p:nvSpPr>
          <p:cNvPr id="102" name="TextBox 101"/>
          <p:cNvSpPr txBox="1"/>
          <p:nvPr/>
        </p:nvSpPr>
        <p:spPr>
          <a:xfrm>
            <a:off x="1828800" y="3108960"/>
            <a:ext cx="1188720" cy="320040"/>
          </a:xfrm>
          <a:prstGeom prst="rect">
            <a:avLst/>
          </a:prstGeom>
          <a:noFill/>
        </p:spPr>
        <p:txBody>
          <a:bodyPr wrap="square" lIns="0" tIns="0" rIns="0" bIns="0" anchor="t">
            <a:spAutoFit/>
          </a:bodyPr>
          <a:lstStyle/>
          <a:p>
            <a:pPr algn="l"/>
            <a:r>
              <a:rPr sz="1600" b="1" i="0">
                <a:solidFill>
                  <a:srgbClr val="531B4C"/>
                </a:solidFill>
                <a:latin typeface="Inter"/>
              </a:rPr>
              <a:t>Lars</a:t>
            </a:r>
          </a:p>
        </p:txBody>
      </p:sp>
      <p:sp>
        <p:nvSpPr>
          <p:cNvPr id="103" name="TextBox 102"/>
          <p:cNvSpPr txBox="1"/>
          <p:nvPr/>
        </p:nvSpPr>
        <p:spPr>
          <a:xfrm>
            <a:off x="1828800" y="3493008"/>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
        <p:nvSpPr>
          <p:cNvPr id="104" name="Rounded Rectangle 103"/>
          <p:cNvSpPr/>
          <p:nvPr/>
        </p:nvSpPr>
        <p:spPr>
          <a:xfrm>
            <a:off x="3314700" y="283464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5" name="Oval 104"/>
          <p:cNvSpPr/>
          <p:nvPr/>
        </p:nvSpPr>
        <p:spPr>
          <a:xfrm>
            <a:off x="3543300" y="306324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P</a:t>
            </a:r>
          </a:p>
        </p:txBody>
      </p:sp>
      <p:sp>
        <p:nvSpPr>
          <p:cNvPr id="106" name="TextBox 105"/>
          <p:cNvSpPr txBox="1"/>
          <p:nvPr/>
        </p:nvSpPr>
        <p:spPr>
          <a:xfrm>
            <a:off x="4411980" y="3108960"/>
            <a:ext cx="1188720" cy="246221"/>
          </a:xfrm>
          <a:prstGeom prst="rect">
            <a:avLst/>
          </a:prstGeom>
          <a:noFill/>
        </p:spPr>
        <p:txBody>
          <a:bodyPr wrap="square" lIns="0" tIns="0" rIns="0" bIns="0" anchor="t">
            <a:spAutoFit/>
          </a:bodyPr>
          <a:lstStyle/>
          <a:p>
            <a:pPr algn="l"/>
            <a:r>
              <a:rPr sz="1600" b="1" i="0" dirty="0">
                <a:solidFill>
                  <a:srgbClr val="531B4C"/>
                </a:solidFill>
                <a:latin typeface="Inter"/>
              </a:rPr>
              <a:t>Pri</a:t>
            </a:r>
            <a:r>
              <a:rPr lang="en-US" sz="1600" b="1" i="0" dirty="0">
                <a:solidFill>
                  <a:srgbClr val="531B4C"/>
                </a:solidFill>
                <a:latin typeface="Inter"/>
              </a:rPr>
              <a:t>ya</a:t>
            </a:r>
            <a:endParaRPr sz="1600" b="1" i="0" dirty="0">
              <a:solidFill>
                <a:srgbClr val="531B4C"/>
              </a:solidFill>
              <a:latin typeface="Inter"/>
            </a:endParaRPr>
          </a:p>
        </p:txBody>
      </p:sp>
      <p:sp>
        <p:nvSpPr>
          <p:cNvPr id="107" name="TextBox 106"/>
          <p:cNvSpPr txBox="1"/>
          <p:nvPr/>
        </p:nvSpPr>
        <p:spPr>
          <a:xfrm>
            <a:off x="4411980" y="3493008"/>
            <a:ext cx="1188720" cy="274320"/>
          </a:xfrm>
          <a:prstGeom prst="rect">
            <a:avLst/>
          </a:prstGeom>
          <a:noFill/>
        </p:spPr>
        <p:txBody>
          <a:bodyPr wrap="square" lIns="0" tIns="0" rIns="0" bIns="0" anchor="t">
            <a:spAutoFit/>
          </a:bodyPr>
          <a:lstStyle/>
          <a:p>
            <a:pPr algn="l"/>
            <a:r>
              <a:rPr sz="1100" b="0" i="0">
                <a:solidFill>
                  <a:srgbClr val="595959"/>
                </a:solidFill>
                <a:latin typeface="Inter"/>
              </a:rPr>
              <a:t>Master Student</a:t>
            </a:r>
          </a:p>
        </p:txBody>
      </p:sp>
      <p:sp>
        <p:nvSpPr>
          <p:cNvPr id="108" name="Rounded Rectangle 107"/>
          <p:cNvSpPr/>
          <p:nvPr/>
        </p:nvSpPr>
        <p:spPr>
          <a:xfrm>
            <a:off x="5897880" y="2834640"/>
            <a:ext cx="2377440" cy="118872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9" name="Oval 108"/>
          <p:cNvSpPr/>
          <p:nvPr/>
        </p:nvSpPr>
        <p:spPr>
          <a:xfrm>
            <a:off x="6126480" y="3063240"/>
            <a:ext cx="731520" cy="73152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400" b="1" i="0">
                <a:solidFill>
                  <a:srgbClr val="FFFFFF"/>
                </a:solidFill>
                <a:latin typeface="Inter"/>
              </a:rPr>
              <a:t>T</a:t>
            </a:r>
          </a:p>
        </p:txBody>
      </p:sp>
      <p:sp>
        <p:nvSpPr>
          <p:cNvPr id="110" name="TextBox 109"/>
          <p:cNvSpPr txBox="1"/>
          <p:nvPr/>
        </p:nvSpPr>
        <p:spPr>
          <a:xfrm>
            <a:off x="6995160" y="3108960"/>
            <a:ext cx="1188720" cy="320040"/>
          </a:xfrm>
          <a:prstGeom prst="rect">
            <a:avLst/>
          </a:prstGeom>
          <a:noFill/>
        </p:spPr>
        <p:txBody>
          <a:bodyPr wrap="square" lIns="0" tIns="0" rIns="0" bIns="0" anchor="t">
            <a:spAutoFit/>
          </a:bodyPr>
          <a:lstStyle/>
          <a:p>
            <a:pPr algn="l"/>
            <a:r>
              <a:rPr sz="1600" b="1" i="0">
                <a:solidFill>
                  <a:srgbClr val="531B4C"/>
                </a:solidFill>
                <a:latin typeface="Inter"/>
              </a:rPr>
              <a:t>Terra</a:t>
            </a:r>
          </a:p>
        </p:txBody>
      </p:sp>
      <p:sp>
        <p:nvSpPr>
          <p:cNvPr id="111" name="TextBox 110"/>
          <p:cNvSpPr txBox="1"/>
          <p:nvPr/>
        </p:nvSpPr>
        <p:spPr>
          <a:xfrm>
            <a:off x="6995160" y="3493008"/>
            <a:ext cx="1188720" cy="274320"/>
          </a:xfrm>
          <a:prstGeom prst="rect">
            <a:avLst/>
          </a:prstGeom>
          <a:noFill/>
        </p:spPr>
        <p:txBody>
          <a:bodyPr wrap="square" lIns="0" tIns="0" rIns="0" bIns="0" anchor="t">
            <a:spAutoFit/>
          </a:bodyPr>
          <a:lstStyle/>
          <a:p>
            <a:pPr algn="l"/>
            <a:r>
              <a:rPr sz="1100" b="0" i="0">
                <a:solidFill>
                  <a:srgbClr val="595959"/>
                </a:solidFill>
                <a:latin typeface="Inter"/>
              </a:rPr>
              <a:t>Bachelor Student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93" name="Google Shape;93;p17"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95" name="Google Shape;95;p17"/>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Product</a:t>
            </a:r>
            <a:endParaRPr sz="400">
              <a:latin typeface="Inter ExtraBold"/>
              <a:ea typeface="Inter ExtraBold"/>
              <a:cs typeface="Inter ExtraBold"/>
              <a:sym typeface="Inter ExtraBold"/>
            </a:endParaRPr>
          </a:p>
        </p:txBody>
      </p:sp>
      <p:sp>
        <p:nvSpPr>
          <p:cNvPr id="96" name="Rounded Rectangle 95"/>
          <p:cNvSpPr/>
          <p:nvPr/>
        </p:nvSpPr>
        <p:spPr>
          <a:xfrm>
            <a:off x="731520" y="1188720"/>
            <a:ext cx="1783080" cy="2240280"/>
          </a:xfrm>
          <a:prstGeom prst="roundRect">
            <a:avLst>
              <a:gd name="adj" fmla="val 6000"/>
            </a:avLst>
          </a:prstGeom>
          <a:noFill/>
          <a:ln w="12700">
            <a:solidFill>
              <a:srgbClr val="2EA8D0"/>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7" name="TextBox 96"/>
          <p:cNvSpPr txBox="1"/>
          <p:nvPr/>
        </p:nvSpPr>
        <p:spPr>
          <a:xfrm>
            <a:off x="841248" y="1243584"/>
            <a:ext cx="1600200" cy="274320"/>
          </a:xfrm>
          <a:prstGeom prst="rect">
            <a:avLst/>
          </a:prstGeom>
          <a:noFill/>
        </p:spPr>
        <p:txBody>
          <a:bodyPr wrap="square" lIns="0" tIns="0" rIns="0" bIns="0" anchor="t">
            <a:spAutoFit/>
          </a:bodyPr>
          <a:lstStyle/>
          <a:p>
            <a:pPr algn="l"/>
            <a:r>
              <a:rPr sz="1100" b="1" i="0">
                <a:solidFill>
                  <a:srgbClr val="2EA8D0"/>
                </a:solidFill>
                <a:latin typeface="Inter"/>
              </a:rPr>
              <a:t>Sense</a:t>
            </a:r>
          </a:p>
        </p:txBody>
      </p:sp>
      <p:sp>
        <p:nvSpPr>
          <p:cNvPr id="98" name="Rounded Rectangle 97"/>
          <p:cNvSpPr/>
          <p:nvPr/>
        </p:nvSpPr>
        <p:spPr>
          <a:xfrm>
            <a:off x="2788920" y="1188720"/>
            <a:ext cx="2606040" cy="2240280"/>
          </a:xfrm>
          <a:prstGeom prst="roundRect">
            <a:avLst>
              <a:gd name="adj" fmla="val 6000"/>
            </a:avLst>
          </a:prstGeom>
          <a:noFill/>
          <a:ln w="12700">
            <a:solidFill>
              <a:srgbClr val="701C7F"/>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9" name="TextBox 98"/>
          <p:cNvSpPr txBox="1"/>
          <p:nvPr/>
        </p:nvSpPr>
        <p:spPr>
          <a:xfrm>
            <a:off x="2898648" y="1243584"/>
            <a:ext cx="2423160" cy="274320"/>
          </a:xfrm>
          <a:prstGeom prst="rect">
            <a:avLst/>
          </a:prstGeom>
          <a:noFill/>
        </p:spPr>
        <p:txBody>
          <a:bodyPr wrap="square" lIns="0" tIns="0" rIns="0" bIns="0" anchor="t">
            <a:spAutoFit/>
          </a:bodyPr>
          <a:lstStyle/>
          <a:p>
            <a:pPr algn="l"/>
            <a:r>
              <a:rPr sz="1100" b="1" i="0">
                <a:solidFill>
                  <a:srgbClr val="701C7F"/>
                </a:solidFill>
                <a:latin typeface="Inter"/>
              </a:rPr>
              <a:t>AutoSD HPC</a:t>
            </a:r>
          </a:p>
        </p:txBody>
      </p:sp>
      <p:sp>
        <p:nvSpPr>
          <p:cNvPr id="100" name="Rounded Rectangle 99"/>
          <p:cNvSpPr/>
          <p:nvPr/>
        </p:nvSpPr>
        <p:spPr>
          <a:xfrm>
            <a:off x="5669280" y="1188720"/>
            <a:ext cx="2606040" cy="2240280"/>
          </a:xfrm>
          <a:prstGeom prst="roundRect">
            <a:avLst>
              <a:gd name="adj" fmla="val 6000"/>
            </a:avLst>
          </a:prstGeom>
          <a:noFill/>
          <a:ln w="12700">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1" name="TextBox 100"/>
          <p:cNvSpPr txBox="1"/>
          <p:nvPr/>
        </p:nvSpPr>
        <p:spPr>
          <a:xfrm>
            <a:off x="5779008" y="1243584"/>
            <a:ext cx="2423160" cy="274320"/>
          </a:xfrm>
          <a:prstGeom prst="rect">
            <a:avLst/>
          </a:prstGeom>
          <a:noFill/>
        </p:spPr>
        <p:txBody>
          <a:bodyPr wrap="square" lIns="0" tIns="0" rIns="0" bIns="0" anchor="t">
            <a:spAutoFit/>
          </a:bodyPr>
          <a:lstStyle/>
          <a:p>
            <a:pPr algn="l"/>
            <a:r>
              <a:rPr sz="1100" b="1" i="0">
                <a:solidFill>
                  <a:srgbClr val="DB521D"/>
                </a:solidFill>
                <a:latin typeface="Inter"/>
              </a:rPr>
              <a:t>Actuate</a:t>
            </a:r>
          </a:p>
        </p:txBody>
      </p:sp>
      <p:sp>
        <p:nvSpPr>
          <p:cNvPr id="102" name="Rounded Rectangle 101"/>
          <p:cNvSpPr/>
          <p:nvPr/>
        </p:nvSpPr>
        <p:spPr>
          <a:xfrm>
            <a:off x="868680" y="1600200"/>
            <a:ext cx="1508760" cy="54864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dirty="0">
                <a:solidFill>
                  <a:srgbClr val="531B4C"/>
                </a:solidFill>
                <a:latin typeface="Inter"/>
              </a:rPr>
              <a:t>Child presence</a:t>
            </a:r>
          </a:p>
          <a:p>
            <a:pPr algn="ctr"/>
            <a:r>
              <a:rPr sz="900" b="0" i="0" dirty="0">
                <a:solidFill>
                  <a:srgbClr val="531B4C"/>
                </a:solidFill>
                <a:latin typeface="Inter"/>
              </a:rPr>
              <a:t>sim / Gazebo</a:t>
            </a:r>
          </a:p>
        </p:txBody>
      </p:sp>
      <p:sp>
        <p:nvSpPr>
          <p:cNvPr id="103" name="Rounded Rectangle 102"/>
          <p:cNvSpPr/>
          <p:nvPr/>
        </p:nvSpPr>
        <p:spPr>
          <a:xfrm>
            <a:off x="868680" y="2606040"/>
            <a:ext cx="1508760" cy="54864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531B4C"/>
                </a:solidFill>
                <a:latin typeface="Inter"/>
              </a:rPr>
              <a:t>Temperature</a:t>
            </a:r>
          </a:p>
          <a:p>
            <a:pPr algn="ctr"/>
            <a:r>
              <a:rPr sz="900" b="0" i="0">
                <a:solidFill>
                  <a:srgbClr val="531B4C"/>
                </a:solidFill>
                <a:latin typeface="Inter"/>
              </a:rPr>
              <a:t>AZ3166 · ThreadX</a:t>
            </a:r>
          </a:p>
        </p:txBody>
      </p:sp>
      <p:sp>
        <p:nvSpPr>
          <p:cNvPr id="104" name="Rounded Rectangle 103"/>
          <p:cNvSpPr/>
          <p:nvPr/>
        </p:nvSpPr>
        <p:spPr>
          <a:xfrm>
            <a:off x="2971800" y="1600200"/>
            <a:ext cx="2240280" cy="68580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dirty="0">
                <a:solidFill>
                  <a:srgbClr val="FFFFFF"/>
                </a:solidFill>
                <a:latin typeface="Inter"/>
              </a:rPr>
              <a:t>Guardian Loop</a:t>
            </a:r>
          </a:p>
          <a:p>
            <a:pPr algn="ctr"/>
            <a:r>
              <a:rPr sz="800" b="0" i="0" dirty="0">
                <a:solidFill>
                  <a:srgbClr val="FFFFFF"/>
                </a:solidFill>
                <a:latin typeface="Consolas"/>
              </a:rPr>
              <a:t>guardian.rs</a:t>
            </a:r>
          </a:p>
        </p:txBody>
      </p:sp>
      <p:sp>
        <p:nvSpPr>
          <p:cNvPr id="105" name="Rounded Rectangle 104"/>
          <p:cNvSpPr/>
          <p:nvPr/>
        </p:nvSpPr>
        <p:spPr>
          <a:xfrm>
            <a:off x="3291840" y="2697480"/>
            <a:ext cx="1600200" cy="45720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531B4C"/>
                </a:solidFill>
                <a:latin typeface="Inter"/>
              </a:rPr>
              <a:t>Actuation Adapter</a:t>
            </a:r>
          </a:p>
        </p:txBody>
      </p:sp>
      <p:sp>
        <p:nvSpPr>
          <p:cNvPr id="106" name="Rounded Rectangle 105"/>
          <p:cNvSpPr/>
          <p:nvPr/>
        </p:nvSpPr>
        <p:spPr>
          <a:xfrm>
            <a:off x="5806440" y="1554480"/>
            <a:ext cx="1051560" cy="457200"/>
          </a:xfrm>
          <a:prstGeom prst="roundRect">
            <a:avLst>
              <a:gd name="adj" fmla="val 18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OpenSOVD CDA</a:t>
            </a:r>
          </a:p>
          <a:p>
            <a:pPr algn="ctr"/>
            <a:r>
              <a:rPr sz="800" b="0" i="0">
                <a:solidFill>
                  <a:srgbClr val="531B4C"/>
                </a:solidFill>
                <a:latin typeface="Inter"/>
              </a:rPr>
              <a:t>sim</a:t>
            </a:r>
          </a:p>
        </p:txBody>
      </p:sp>
      <p:sp>
        <p:nvSpPr>
          <p:cNvPr id="107" name="Rounded Rectangle 106"/>
          <p:cNvSpPr/>
          <p:nvPr/>
        </p:nvSpPr>
        <p:spPr>
          <a:xfrm>
            <a:off x="7086600" y="1554480"/>
            <a:ext cx="1051560" cy="457200"/>
          </a:xfrm>
          <a:prstGeom prst="roundRect">
            <a:avLst>
              <a:gd name="adj" fmla="val 18000"/>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Window</a:t>
            </a:r>
          </a:p>
          <a:p>
            <a:pPr algn="ctr"/>
            <a:r>
              <a:rPr sz="800" b="0" i="0">
                <a:solidFill>
                  <a:srgbClr val="531B4C"/>
                </a:solidFill>
                <a:latin typeface="Inter"/>
              </a:rPr>
              <a:t>S32K148 · OpenBSW</a:t>
            </a:r>
          </a:p>
        </p:txBody>
      </p:sp>
      <p:sp>
        <p:nvSpPr>
          <p:cNvPr id="108" name="Rounded Rectangle 107"/>
          <p:cNvSpPr/>
          <p:nvPr/>
        </p:nvSpPr>
        <p:spPr>
          <a:xfrm>
            <a:off x="5806440" y="2167128"/>
            <a:ext cx="1051560" cy="457200"/>
          </a:xfrm>
          <a:prstGeom prst="roundRect">
            <a:avLst>
              <a:gd name="adj" fmla="val 18000"/>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HVAC</a:t>
            </a:r>
          </a:p>
          <a:p>
            <a:pPr algn="ctr"/>
            <a:r>
              <a:rPr sz="800" b="0" i="0">
                <a:solidFill>
                  <a:srgbClr val="531B4C"/>
                </a:solidFill>
                <a:latin typeface="Inter"/>
              </a:rPr>
              <a:t>ROS 2 · Muto</a:t>
            </a:r>
          </a:p>
        </p:txBody>
      </p:sp>
      <p:sp>
        <p:nvSpPr>
          <p:cNvPr id="109" name="Rounded Rectangle 108"/>
          <p:cNvSpPr/>
          <p:nvPr/>
        </p:nvSpPr>
        <p:spPr>
          <a:xfrm>
            <a:off x="5806440" y="2779776"/>
            <a:ext cx="1051560" cy="457200"/>
          </a:xfrm>
          <a:prstGeom prst="roundRect">
            <a:avLst>
              <a:gd name="adj" fmla="val 18000"/>
            </a:avLst>
          </a:prstGeom>
          <a:solidFill>
            <a:srgbClr val="FDEFE8"/>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i="0">
                <a:solidFill>
                  <a:srgbClr val="531B4C"/>
                </a:solidFill>
                <a:latin typeface="Inter"/>
              </a:rPr>
              <a:t>Alarm</a:t>
            </a:r>
          </a:p>
          <a:p>
            <a:pPr algn="ctr"/>
            <a:r>
              <a:rPr sz="800" b="0" i="0">
                <a:solidFill>
                  <a:srgbClr val="531B4C"/>
                </a:solidFill>
                <a:latin typeface="Inter"/>
              </a:rPr>
              <a:t>Telegram</a:t>
            </a:r>
          </a:p>
        </p:txBody>
      </p:sp>
      <p:cxnSp>
        <p:nvCxnSpPr>
          <p:cNvPr id="110" name="Connector 109"/>
          <p:cNvCxnSpPr/>
          <p:nvPr/>
        </p:nvCxnSpPr>
        <p:spPr>
          <a:xfrm>
            <a:off x="2377440" y="1874519"/>
            <a:ext cx="594360" cy="0"/>
          </a:xfrm>
          <a:prstGeom prst="line">
            <a:avLst/>
          </a:prstGeom>
          <a:ln w="22225">
            <a:solidFill>
              <a:srgbClr val="2EA8D0"/>
            </a:solidFill>
            <a:tailEnd type="triangle"/>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868680" y="2258568"/>
            <a:ext cx="1508760" cy="228600"/>
          </a:xfrm>
          <a:prstGeom prst="rect">
            <a:avLst/>
          </a:prstGeom>
          <a:noFill/>
        </p:spPr>
        <p:txBody>
          <a:bodyPr wrap="square" lIns="0" tIns="0" rIns="0" bIns="0" anchor="t">
            <a:spAutoFit/>
          </a:bodyPr>
          <a:lstStyle/>
          <a:p>
            <a:pPr algn="ctr"/>
            <a:r>
              <a:rPr sz="1000" b="1" i="0">
                <a:solidFill>
                  <a:srgbClr val="2EA8D0"/>
                </a:solidFill>
                <a:latin typeface="Inter"/>
              </a:rPr>
              <a:t>uProtocol  →</a:t>
            </a:r>
          </a:p>
        </p:txBody>
      </p:sp>
      <p:cxnSp>
        <p:nvCxnSpPr>
          <p:cNvPr id="112" name="Connector 111"/>
          <p:cNvCxnSpPr/>
          <p:nvPr/>
        </p:nvCxnSpPr>
        <p:spPr>
          <a:xfrm flipV="1">
            <a:off x="2377440" y="2148840"/>
            <a:ext cx="594360" cy="731520"/>
          </a:xfrm>
          <a:prstGeom prst="line">
            <a:avLst/>
          </a:prstGeom>
          <a:ln w="22225">
            <a:solidFill>
              <a:srgbClr val="2EA8D0"/>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091939" y="2286000"/>
            <a:ext cx="0" cy="411480"/>
          </a:xfrm>
          <a:prstGeom prst="line">
            <a:avLst/>
          </a:prstGeom>
          <a:ln w="22225">
            <a:solidFill>
              <a:srgbClr val="701C7F"/>
            </a:solidFill>
            <a:tailEnd type="triangle"/>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4160520" y="2377440"/>
            <a:ext cx="548640" cy="182880"/>
          </a:xfrm>
          <a:prstGeom prst="rect">
            <a:avLst/>
          </a:prstGeom>
          <a:noFill/>
        </p:spPr>
        <p:txBody>
          <a:bodyPr wrap="square" lIns="0" tIns="0" rIns="0" bIns="0" anchor="t">
            <a:spAutoFit/>
          </a:bodyPr>
          <a:lstStyle/>
          <a:p>
            <a:pPr algn="l"/>
            <a:r>
              <a:rPr sz="1000" b="0" i="0">
                <a:solidFill>
                  <a:srgbClr val="595959"/>
                </a:solidFill>
                <a:latin typeface="Inter"/>
              </a:rPr>
              <a:t>RPC</a:t>
            </a:r>
          </a:p>
        </p:txBody>
      </p:sp>
      <p:cxnSp>
        <p:nvCxnSpPr>
          <p:cNvPr id="115" name="Connector 114"/>
          <p:cNvCxnSpPr/>
          <p:nvPr/>
        </p:nvCxnSpPr>
        <p:spPr>
          <a:xfrm flipV="1">
            <a:off x="4892040" y="1783080"/>
            <a:ext cx="914400" cy="1143000"/>
          </a:xfrm>
          <a:prstGeom prst="line">
            <a:avLst/>
          </a:prstGeom>
          <a:ln w="19050">
            <a:solidFill>
              <a:srgbClr val="DB521D"/>
            </a:solidFill>
            <a:tailEnd type="triangle"/>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4892040" y="2395728"/>
            <a:ext cx="914400" cy="530352"/>
          </a:xfrm>
          <a:prstGeom prst="line">
            <a:avLst/>
          </a:prstGeom>
          <a:ln w="19050">
            <a:solidFill>
              <a:srgbClr val="DB521D"/>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4892040" y="2926080"/>
            <a:ext cx="914400" cy="82296"/>
          </a:xfrm>
          <a:prstGeom prst="line">
            <a:avLst/>
          </a:prstGeom>
          <a:ln w="19050">
            <a:solidFill>
              <a:srgbClr val="DB521D"/>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858000" y="1783080"/>
            <a:ext cx="228600" cy="0"/>
          </a:xfrm>
          <a:prstGeom prst="line">
            <a:avLst/>
          </a:prstGeom>
          <a:ln w="15875">
            <a:solidFill>
              <a:srgbClr val="DB521D"/>
            </a:solidFill>
            <a:tailEnd type="triangle"/>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731520" y="3657600"/>
            <a:ext cx="1325880" cy="384048"/>
          </a:xfrm>
          <a:prstGeom prst="roundRect">
            <a:avLst>
              <a:gd name="adj" fmla="val 50000"/>
            </a:avLst>
          </a:prstGeom>
          <a:solidFill>
            <a:srgbClr val="2E9E5B"/>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CLEAR</a:t>
            </a:r>
          </a:p>
        </p:txBody>
      </p:sp>
      <p:sp>
        <p:nvSpPr>
          <p:cNvPr id="120" name="Rounded Rectangle 119"/>
          <p:cNvSpPr/>
          <p:nvPr/>
        </p:nvSpPr>
        <p:spPr>
          <a:xfrm>
            <a:off x="2276856" y="3657600"/>
            <a:ext cx="1325880" cy="384048"/>
          </a:xfrm>
          <a:prstGeom prst="roundRect">
            <a:avLst>
              <a:gd name="adj" fmla="val 50000"/>
            </a:avLst>
          </a:prstGeom>
          <a:solidFill>
            <a:srgbClr val="2EA8D0"/>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MONITORING</a:t>
            </a:r>
          </a:p>
        </p:txBody>
      </p:sp>
      <p:cxnSp>
        <p:nvCxnSpPr>
          <p:cNvPr id="121" name="Connector 120"/>
          <p:cNvCxnSpPr/>
          <p:nvPr/>
        </p:nvCxnSpPr>
        <p:spPr>
          <a:xfrm>
            <a:off x="2075688" y="3849624"/>
            <a:ext cx="18288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3822191" y="3657600"/>
            <a:ext cx="1325880" cy="384048"/>
          </a:xfrm>
          <a:prstGeom prst="roundRect">
            <a:avLst>
              <a:gd name="adj" fmla="val 50000"/>
            </a:avLst>
          </a:prstGeom>
          <a:solidFill>
            <a:srgbClr val="DB521D"/>
          </a:solidFill>
          <a:ln w="15875">
            <a:solidFill>
              <a:srgbClr val="DB521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WARNING</a:t>
            </a:r>
          </a:p>
        </p:txBody>
      </p:sp>
      <p:cxnSp>
        <p:nvCxnSpPr>
          <p:cNvPr id="123" name="Connector 122"/>
          <p:cNvCxnSpPr/>
          <p:nvPr/>
        </p:nvCxnSpPr>
        <p:spPr>
          <a:xfrm>
            <a:off x="3621023" y="3849624"/>
            <a:ext cx="1828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5367528" y="3657600"/>
            <a:ext cx="1325880" cy="384048"/>
          </a:xfrm>
          <a:prstGeom prst="roundRect">
            <a:avLst>
              <a:gd name="adj" fmla="val 50000"/>
            </a:avLst>
          </a:prstGeom>
          <a:solidFill>
            <a:srgbClr val="AB0761"/>
          </a:solidFill>
          <a:ln w="15875">
            <a:solidFill>
              <a:srgbClr val="AB0761"/>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a:solidFill>
                  <a:srgbClr val="FFFFFF"/>
                </a:solidFill>
                <a:latin typeface="Inter"/>
              </a:rPr>
              <a:t>CRITICAL</a:t>
            </a:r>
          </a:p>
        </p:txBody>
      </p:sp>
      <p:cxnSp>
        <p:nvCxnSpPr>
          <p:cNvPr id="125" name="Connector 124"/>
          <p:cNvCxnSpPr/>
          <p:nvPr/>
        </p:nvCxnSpPr>
        <p:spPr>
          <a:xfrm>
            <a:off x="5166359" y="3849624"/>
            <a:ext cx="1828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6912864" y="3657600"/>
            <a:ext cx="1325880" cy="384048"/>
          </a:xfrm>
          <a:prstGeom prst="roundRect">
            <a:avLst>
              <a:gd name="adj" fmla="val 50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i="0" dirty="0">
                <a:solidFill>
                  <a:srgbClr val="FFFFFF"/>
                </a:solidFill>
                <a:latin typeface="Inter"/>
              </a:rPr>
              <a:t>MITIGATING</a:t>
            </a:r>
          </a:p>
        </p:txBody>
      </p:sp>
      <p:cxnSp>
        <p:nvCxnSpPr>
          <p:cNvPr id="127" name="Connector 126"/>
          <p:cNvCxnSpPr/>
          <p:nvPr/>
        </p:nvCxnSpPr>
        <p:spPr>
          <a:xfrm>
            <a:off x="6711695" y="3849624"/>
            <a:ext cx="1828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Swap</a:t>
            </a:r>
            <a:endParaRPr sz="400">
              <a:latin typeface="Inter ExtraBold"/>
              <a:ea typeface="Inter ExtraBold"/>
              <a:cs typeface="Inter ExtraBold"/>
              <a:sym typeface="Inter ExtraBold"/>
            </a:endParaRPr>
          </a:p>
        </p:txBody>
      </p:sp>
      <p:sp>
        <p:nvSpPr>
          <p:cNvPr id="104" name="Rounded Rectangle 103"/>
          <p:cNvSpPr/>
          <p:nvPr/>
        </p:nvSpPr>
        <p:spPr>
          <a:xfrm>
            <a:off x="731520" y="1188720"/>
            <a:ext cx="7543800" cy="54864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700" b="1" i="0">
                <a:solidFill>
                  <a:srgbClr val="FFFFFF"/>
                </a:solidFill>
                <a:latin typeface="Inter"/>
              </a:rPr>
              <a:t>🔒  Guardian Loop</a:t>
            </a:r>
            <a:r>
              <a:rPr sz="1400" b="0" i="0">
                <a:solidFill>
                  <a:srgbClr val="FFFFFF"/>
                </a:solidFill>
                <a:latin typeface="Inter"/>
              </a:rPr>
              <a:t>   ·   0 lines of hardware code</a:t>
            </a:r>
          </a:p>
        </p:txBody>
      </p:sp>
      <p:grpSp>
        <p:nvGrpSpPr>
          <p:cNvPr id="12" name="Gruppieren 11">
            <a:extLst>
              <a:ext uri="{FF2B5EF4-FFF2-40B4-BE49-F238E27FC236}">
                <a16:creationId xmlns:a16="http://schemas.microsoft.com/office/drawing/2014/main" id="{79FA8088-7ABB-B143-3ACA-23B9FA89D566}"/>
              </a:ext>
            </a:extLst>
          </p:cNvPr>
          <p:cNvGrpSpPr/>
          <p:nvPr/>
        </p:nvGrpSpPr>
        <p:grpSpPr>
          <a:xfrm>
            <a:off x="629109" y="2949692"/>
            <a:ext cx="7443216" cy="502920"/>
            <a:chOff x="731520" y="2057400"/>
            <a:chExt cx="7443216" cy="502920"/>
          </a:xfrm>
        </p:grpSpPr>
        <p:sp>
          <p:nvSpPr>
            <p:cNvPr id="105" name="TextBox 104"/>
            <p:cNvSpPr txBox="1"/>
            <p:nvPr/>
          </p:nvSpPr>
          <p:spPr>
            <a:xfrm>
              <a:off x="731520" y="2057400"/>
              <a:ext cx="1280160" cy="502920"/>
            </a:xfrm>
            <a:prstGeom prst="rect">
              <a:avLst/>
            </a:prstGeom>
            <a:noFill/>
          </p:spPr>
          <p:txBody>
            <a:bodyPr wrap="square" lIns="0" tIns="0" rIns="0" bIns="0" anchor="ctr">
              <a:spAutoFit/>
            </a:bodyPr>
            <a:lstStyle/>
            <a:p>
              <a:pPr algn="l"/>
              <a:r>
                <a:rPr sz="1200" b="1" i="0">
                  <a:solidFill>
                    <a:srgbClr val="531B4C"/>
                  </a:solidFill>
                  <a:latin typeface="Inter"/>
                </a:rPr>
                <a:t>Temperature</a:t>
              </a:r>
            </a:p>
          </p:txBody>
        </p:sp>
        <p:sp>
          <p:nvSpPr>
            <p:cNvPr id="106" name="Rounded Rectangle 105"/>
            <p:cNvSpPr/>
            <p:nvPr/>
          </p:nvSpPr>
          <p:spPr>
            <a:xfrm>
              <a:off x="2057400" y="2057400"/>
              <a:ext cx="1783080" cy="502920"/>
            </a:xfrm>
            <a:prstGeom prst="roundRect">
              <a:avLst>
                <a:gd name="adj" fmla="val 18000"/>
              </a:avLst>
            </a:prstGeom>
            <a:solidFill>
              <a:srgbClr val="FFFFFF"/>
            </a:solidFill>
            <a:ln w="1587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595959"/>
                  </a:solidFill>
                  <a:latin typeface="Inter"/>
                </a:rPr>
                <a:t>Simulated</a:t>
              </a:r>
            </a:p>
          </p:txBody>
        </p:sp>
        <p:sp>
          <p:nvSpPr>
            <p:cNvPr id="107" name="Rounded Rectangle 106"/>
            <p:cNvSpPr/>
            <p:nvPr/>
          </p:nvSpPr>
          <p:spPr>
            <a:xfrm>
              <a:off x="4224528" y="2057400"/>
              <a:ext cx="1783080" cy="50292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err="1">
                  <a:solidFill>
                    <a:srgbClr val="531B4C"/>
                  </a:solidFill>
                  <a:latin typeface="Inter"/>
                </a:rPr>
                <a:t>ThreadX</a:t>
              </a:r>
              <a:r>
                <a:rPr sz="1100" b="1" i="0" dirty="0">
                  <a:solidFill>
                    <a:srgbClr val="531B4C"/>
                  </a:solidFill>
                  <a:latin typeface="Inter"/>
                </a:rPr>
                <a:t> · </a:t>
              </a:r>
              <a:r>
                <a:rPr sz="1100" b="1" i="0" dirty="0" err="1">
                  <a:solidFill>
                    <a:srgbClr val="531B4C"/>
                  </a:solidFill>
                  <a:latin typeface="Inter"/>
                </a:rPr>
                <a:t>Renode</a:t>
              </a:r>
              <a:endParaRPr sz="1100" b="1" i="0" dirty="0">
                <a:solidFill>
                  <a:srgbClr val="531B4C"/>
                </a:solidFill>
                <a:latin typeface="Inter"/>
              </a:endParaRPr>
            </a:p>
          </p:txBody>
        </p:sp>
        <p:cxnSp>
          <p:nvCxnSpPr>
            <p:cNvPr id="108" name="Connector 107"/>
            <p:cNvCxnSpPr/>
            <p:nvPr/>
          </p:nvCxnSpPr>
          <p:spPr>
            <a:xfrm>
              <a:off x="3877056" y="2308860"/>
              <a:ext cx="310896"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6391656" y="2057400"/>
              <a:ext cx="1783080" cy="502920"/>
            </a:xfrm>
            <a:prstGeom prst="roundRect">
              <a:avLst>
                <a:gd name="adj" fmla="val 18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531B4C"/>
                  </a:solidFill>
                  <a:latin typeface="Inter"/>
                </a:rPr>
                <a:t>✅ AZ3166</a:t>
              </a:r>
            </a:p>
            <a:p>
              <a:pPr algn="ctr"/>
              <a:r>
                <a:rPr sz="800" b="0" i="0">
                  <a:solidFill>
                    <a:srgbClr val="531B4C"/>
                  </a:solidFill>
                  <a:latin typeface="Inter"/>
                </a:rPr>
                <a:t>real hardware</a:t>
              </a:r>
            </a:p>
          </p:txBody>
        </p:sp>
        <p:cxnSp>
          <p:nvCxnSpPr>
            <p:cNvPr id="110" name="Connector 109"/>
            <p:cNvCxnSpPr/>
            <p:nvPr/>
          </p:nvCxnSpPr>
          <p:spPr>
            <a:xfrm>
              <a:off x="6044184" y="2308860"/>
              <a:ext cx="310896"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uppieren 10">
            <a:extLst>
              <a:ext uri="{FF2B5EF4-FFF2-40B4-BE49-F238E27FC236}">
                <a16:creationId xmlns:a16="http://schemas.microsoft.com/office/drawing/2014/main" id="{CCC84E34-344C-26AA-F6FD-11903E7218F0}"/>
              </a:ext>
            </a:extLst>
          </p:cNvPr>
          <p:cNvGrpSpPr/>
          <p:nvPr/>
        </p:nvGrpSpPr>
        <p:grpSpPr>
          <a:xfrm>
            <a:off x="629109" y="3705364"/>
            <a:ext cx="7443216" cy="502920"/>
            <a:chOff x="731520" y="2761488"/>
            <a:chExt cx="7443216" cy="502920"/>
          </a:xfrm>
        </p:grpSpPr>
        <p:sp>
          <p:nvSpPr>
            <p:cNvPr id="111" name="TextBox 110"/>
            <p:cNvSpPr txBox="1"/>
            <p:nvPr/>
          </p:nvSpPr>
          <p:spPr>
            <a:xfrm>
              <a:off x="731520" y="2761488"/>
              <a:ext cx="1280160" cy="502920"/>
            </a:xfrm>
            <a:prstGeom prst="rect">
              <a:avLst/>
            </a:prstGeom>
            <a:noFill/>
          </p:spPr>
          <p:txBody>
            <a:bodyPr wrap="square" lIns="0" tIns="0" rIns="0" bIns="0" anchor="ctr">
              <a:spAutoFit/>
            </a:bodyPr>
            <a:lstStyle/>
            <a:p>
              <a:pPr algn="l"/>
              <a:r>
                <a:rPr sz="1200" b="1" i="0">
                  <a:solidFill>
                    <a:srgbClr val="531B4C"/>
                  </a:solidFill>
                  <a:latin typeface="Inter"/>
                </a:rPr>
                <a:t>Window</a:t>
              </a:r>
            </a:p>
          </p:txBody>
        </p:sp>
        <p:sp>
          <p:nvSpPr>
            <p:cNvPr id="112" name="Rounded Rectangle 111"/>
            <p:cNvSpPr/>
            <p:nvPr/>
          </p:nvSpPr>
          <p:spPr>
            <a:xfrm>
              <a:off x="2057400" y="2761488"/>
              <a:ext cx="1783080" cy="502920"/>
            </a:xfrm>
            <a:prstGeom prst="roundRect">
              <a:avLst>
                <a:gd name="adj" fmla="val 18000"/>
              </a:avLst>
            </a:prstGeom>
            <a:solidFill>
              <a:srgbClr val="FFFFFF"/>
            </a:solidFill>
            <a:ln w="1587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595959"/>
                  </a:solidFill>
                  <a:latin typeface="Inter"/>
                </a:rPr>
                <a:t>Simulated</a:t>
              </a:r>
            </a:p>
          </p:txBody>
        </p:sp>
        <p:sp>
          <p:nvSpPr>
            <p:cNvPr id="113" name="Rounded Rectangle 112"/>
            <p:cNvSpPr/>
            <p:nvPr/>
          </p:nvSpPr>
          <p:spPr>
            <a:xfrm>
              <a:off x="6391656" y="2761488"/>
              <a:ext cx="1783080" cy="502920"/>
            </a:xfrm>
            <a:prstGeom prst="roundRect">
              <a:avLst>
                <a:gd name="adj" fmla="val 18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531B4C"/>
                  </a:solidFill>
                  <a:latin typeface="Inter"/>
                </a:rPr>
                <a:t>✅ S32K148 · OpenBSW</a:t>
              </a:r>
            </a:p>
            <a:p>
              <a:pPr algn="ctr"/>
              <a:r>
                <a:rPr sz="800" b="0" i="0">
                  <a:solidFill>
                    <a:srgbClr val="531B4C"/>
                  </a:solidFill>
                  <a:latin typeface="Inter"/>
                </a:rPr>
                <a:t>real hardware</a:t>
              </a:r>
            </a:p>
          </p:txBody>
        </p:sp>
        <p:cxnSp>
          <p:nvCxnSpPr>
            <p:cNvPr id="114" name="Connector 113"/>
            <p:cNvCxnSpPr/>
            <p:nvPr/>
          </p:nvCxnSpPr>
          <p:spPr>
            <a:xfrm>
              <a:off x="3877056" y="3012948"/>
              <a:ext cx="2478024"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0" name="Gruppieren 9">
            <a:extLst>
              <a:ext uri="{FF2B5EF4-FFF2-40B4-BE49-F238E27FC236}">
                <a16:creationId xmlns:a16="http://schemas.microsoft.com/office/drawing/2014/main" id="{A4C0F4D2-D72D-F5A1-34CD-A6C977BF47DC}"/>
              </a:ext>
            </a:extLst>
          </p:cNvPr>
          <p:cNvGrpSpPr/>
          <p:nvPr/>
        </p:nvGrpSpPr>
        <p:grpSpPr>
          <a:xfrm>
            <a:off x="629109" y="2197627"/>
            <a:ext cx="5276088" cy="502920"/>
            <a:chOff x="731520" y="3465576"/>
            <a:chExt cx="5276088" cy="502920"/>
          </a:xfrm>
        </p:grpSpPr>
        <p:sp>
          <p:nvSpPr>
            <p:cNvPr id="115" name="TextBox 114"/>
            <p:cNvSpPr txBox="1"/>
            <p:nvPr/>
          </p:nvSpPr>
          <p:spPr>
            <a:xfrm>
              <a:off x="731520" y="3465576"/>
              <a:ext cx="1280160" cy="502920"/>
            </a:xfrm>
            <a:prstGeom prst="rect">
              <a:avLst/>
            </a:prstGeom>
            <a:noFill/>
          </p:spPr>
          <p:txBody>
            <a:bodyPr wrap="square" lIns="0" tIns="0" rIns="0" bIns="0" anchor="ctr">
              <a:spAutoFit/>
            </a:bodyPr>
            <a:lstStyle/>
            <a:p>
              <a:pPr algn="l"/>
              <a:r>
                <a:rPr sz="1200" b="1" i="0">
                  <a:solidFill>
                    <a:srgbClr val="531B4C"/>
                  </a:solidFill>
                  <a:latin typeface="Inter"/>
                </a:rPr>
                <a:t>Visual</a:t>
              </a:r>
            </a:p>
          </p:txBody>
        </p:sp>
        <p:sp>
          <p:nvSpPr>
            <p:cNvPr id="116" name="Rounded Rectangle 115"/>
            <p:cNvSpPr/>
            <p:nvPr/>
          </p:nvSpPr>
          <p:spPr>
            <a:xfrm>
              <a:off x="2057400" y="3465576"/>
              <a:ext cx="1783080" cy="502920"/>
            </a:xfrm>
            <a:prstGeom prst="roundRect">
              <a:avLst>
                <a:gd name="adj" fmla="val 18000"/>
              </a:avLst>
            </a:prstGeom>
            <a:solidFill>
              <a:srgbClr val="FFFFFF"/>
            </a:solidFill>
            <a:ln w="15875">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dirty="0">
                  <a:solidFill>
                    <a:srgbClr val="595959"/>
                  </a:solidFill>
                  <a:latin typeface="Inter"/>
                </a:rPr>
                <a:t>Dashboard</a:t>
              </a:r>
            </a:p>
          </p:txBody>
        </p:sp>
        <p:sp>
          <p:nvSpPr>
            <p:cNvPr id="117" name="Rounded Rectangle 116"/>
            <p:cNvSpPr/>
            <p:nvPr/>
          </p:nvSpPr>
          <p:spPr>
            <a:xfrm>
              <a:off x="4224528" y="3465576"/>
              <a:ext cx="1783080" cy="502920"/>
            </a:xfrm>
            <a:prstGeom prst="roundRect">
              <a:avLst>
                <a:gd name="adj" fmla="val 18000"/>
              </a:avLst>
            </a:prstGeom>
            <a:solidFill>
              <a:srgbClr val="E8F6FB"/>
            </a:solidFill>
            <a:ln w="15875">
              <a:solidFill>
                <a:srgbClr val="2EA8D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531B4C"/>
                  </a:solidFill>
                  <a:latin typeface="Inter"/>
                </a:rPr>
                <a:t>ROS 2 · Gazebo</a:t>
              </a:r>
            </a:p>
          </p:txBody>
        </p:sp>
        <p:cxnSp>
          <p:nvCxnSpPr>
            <p:cNvPr id="118" name="Connector 117"/>
            <p:cNvCxnSpPr/>
            <p:nvPr/>
          </p:nvCxnSpPr>
          <p:spPr>
            <a:xfrm>
              <a:off x="3877056" y="3717036"/>
              <a:ext cx="310896"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19" name="Connector 118"/>
          <p:cNvCxnSpPr/>
          <p:nvPr/>
        </p:nvCxnSpPr>
        <p:spPr>
          <a:xfrm>
            <a:off x="1371600" y="1737360"/>
            <a:ext cx="0" cy="438912"/>
          </a:xfrm>
          <a:prstGeom prst="line">
            <a:avLst/>
          </a:prstGeom>
          <a:ln w="19050">
            <a:solidFill>
              <a:srgbClr val="701C7F"/>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463040" y="1874519"/>
            <a:ext cx="1371600" cy="182880"/>
          </a:xfrm>
          <a:prstGeom prst="rect">
            <a:avLst/>
          </a:prstGeom>
          <a:noFill/>
        </p:spPr>
        <p:txBody>
          <a:bodyPr wrap="square" lIns="0" tIns="0" rIns="0" bIns="0" anchor="t">
            <a:spAutoFit/>
          </a:bodyPr>
          <a:lstStyle/>
          <a:p>
            <a:pPr algn="l"/>
            <a:r>
              <a:rPr sz="800" b="0" i="0">
                <a:solidFill>
                  <a:srgbClr val="595959"/>
                </a:solidFill>
                <a:latin typeface="Inter"/>
              </a:rPr>
              <a:t>uProtocol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Added Value</a:t>
            </a:r>
            <a:endParaRPr sz="400">
              <a:latin typeface="Inter ExtraBold"/>
              <a:ea typeface="Inter ExtraBold"/>
              <a:cs typeface="Inter ExtraBold"/>
              <a:sym typeface="Inter ExtraBold"/>
            </a:endParaRPr>
          </a:p>
        </p:txBody>
      </p:sp>
      <p:sp>
        <p:nvSpPr>
          <p:cNvPr id="104" name="Rounded Rectangle 103"/>
          <p:cNvSpPr/>
          <p:nvPr/>
        </p:nvSpPr>
        <p:spPr>
          <a:xfrm>
            <a:off x="73152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5" name="Oval 104"/>
          <p:cNvSpPr/>
          <p:nvPr/>
        </p:nvSpPr>
        <p:spPr>
          <a:xfrm>
            <a:off x="118872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06" name="TextBox 105"/>
          <p:cNvSpPr txBox="1"/>
          <p:nvPr/>
        </p:nvSpPr>
        <p:spPr>
          <a:xfrm>
            <a:off x="731520" y="2560320"/>
            <a:ext cx="1737360" cy="320040"/>
          </a:xfrm>
          <a:prstGeom prst="rect">
            <a:avLst/>
          </a:prstGeom>
          <a:noFill/>
        </p:spPr>
        <p:txBody>
          <a:bodyPr wrap="square" lIns="0" tIns="0" rIns="0" bIns="0" anchor="t">
            <a:spAutoFit/>
          </a:bodyPr>
          <a:lstStyle/>
          <a:p>
            <a:pPr algn="ctr"/>
            <a:r>
              <a:rPr sz="1400" b="1" i="0">
                <a:solidFill>
                  <a:srgbClr val="701C7F"/>
                </a:solidFill>
                <a:latin typeface="Inter"/>
              </a:rPr>
              <a:t>HW-agnostic</a:t>
            </a:r>
          </a:p>
        </p:txBody>
      </p:sp>
      <p:sp>
        <p:nvSpPr>
          <p:cNvPr id="107" name="TextBox 106"/>
          <p:cNvSpPr txBox="1"/>
          <p:nvPr/>
        </p:nvSpPr>
        <p:spPr>
          <a:xfrm>
            <a:off x="822960" y="2971800"/>
            <a:ext cx="1554480" cy="640080"/>
          </a:xfrm>
          <a:prstGeom prst="rect">
            <a:avLst/>
          </a:prstGeom>
          <a:noFill/>
        </p:spPr>
        <p:txBody>
          <a:bodyPr wrap="square" lIns="0" tIns="0" rIns="0" bIns="0" anchor="t">
            <a:spAutoFit/>
          </a:bodyPr>
          <a:lstStyle/>
          <a:p>
            <a:pPr algn="ctr"/>
            <a:r>
              <a:rPr sz="1100" b="0" i="0">
                <a:solidFill>
                  <a:srgbClr val="595959"/>
                </a:solidFill>
                <a:latin typeface="Inter"/>
              </a:rPr>
              <a:t>swap sensors,</a:t>
            </a:r>
          </a:p>
          <a:p>
            <a:pPr algn="ctr"/>
            <a:r>
              <a:rPr sz="1100" b="0" i="0">
                <a:solidFill>
                  <a:srgbClr val="595959"/>
                </a:solidFill>
                <a:latin typeface="Inter"/>
              </a:rPr>
              <a:t>keep the logic</a:t>
            </a:r>
          </a:p>
        </p:txBody>
      </p:sp>
      <p:sp>
        <p:nvSpPr>
          <p:cNvPr id="108" name="Rounded Rectangle 107"/>
          <p:cNvSpPr/>
          <p:nvPr/>
        </p:nvSpPr>
        <p:spPr>
          <a:xfrm>
            <a:off x="265176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9" name="Oval 108"/>
          <p:cNvSpPr/>
          <p:nvPr/>
        </p:nvSpPr>
        <p:spPr>
          <a:xfrm>
            <a:off x="310896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10" name="TextBox 109"/>
          <p:cNvSpPr txBox="1"/>
          <p:nvPr/>
        </p:nvSpPr>
        <p:spPr>
          <a:xfrm>
            <a:off x="2651760" y="2560320"/>
            <a:ext cx="1737360" cy="320040"/>
          </a:xfrm>
          <a:prstGeom prst="rect">
            <a:avLst/>
          </a:prstGeom>
          <a:noFill/>
        </p:spPr>
        <p:txBody>
          <a:bodyPr wrap="square" lIns="0" tIns="0" rIns="0" bIns="0" anchor="t">
            <a:spAutoFit/>
          </a:bodyPr>
          <a:lstStyle/>
          <a:p>
            <a:pPr algn="ctr"/>
            <a:r>
              <a:rPr sz="1400" b="1" i="0" dirty="0">
                <a:solidFill>
                  <a:srgbClr val="701C7F"/>
                </a:solidFill>
                <a:latin typeface="Inter"/>
              </a:rPr>
              <a:t>Fail-safe</a:t>
            </a:r>
          </a:p>
        </p:txBody>
      </p:sp>
      <p:sp>
        <p:nvSpPr>
          <p:cNvPr id="111" name="TextBox 110"/>
          <p:cNvSpPr txBox="1"/>
          <p:nvPr/>
        </p:nvSpPr>
        <p:spPr>
          <a:xfrm>
            <a:off x="2743200" y="2971800"/>
            <a:ext cx="1554480" cy="640080"/>
          </a:xfrm>
          <a:prstGeom prst="rect">
            <a:avLst/>
          </a:prstGeom>
          <a:noFill/>
        </p:spPr>
        <p:txBody>
          <a:bodyPr wrap="square" lIns="0" tIns="0" rIns="0" bIns="0" anchor="t">
            <a:spAutoFit/>
          </a:bodyPr>
          <a:lstStyle/>
          <a:p>
            <a:pPr algn="ctr"/>
            <a:r>
              <a:rPr sz="1100" b="0" i="0" dirty="0">
                <a:solidFill>
                  <a:srgbClr val="595959"/>
                </a:solidFill>
                <a:latin typeface="Inter"/>
              </a:rPr>
              <a:t>sensors disagree?</a:t>
            </a:r>
          </a:p>
          <a:p>
            <a:pPr algn="ctr"/>
            <a:r>
              <a:rPr sz="1100" b="0" i="0" dirty="0">
                <a:solidFill>
                  <a:srgbClr val="595959"/>
                </a:solidFill>
                <a:latin typeface="Inter"/>
              </a:rPr>
              <a:t>cool anyway</a:t>
            </a:r>
          </a:p>
        </p:txBody>
      </p:sp>
      <p:sp>
        <p:nvSpPr>
          <p:cNvPr id="112" name="Rounded Rectangle 111"/>
          <p:cNvSpPr/>
          <p:nvPr/>
        </p:nvSpPr>
        <p:spPr>
          <a:xfrm>
            <a:off x="457200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13" name="Oval 112"/>
          <p:cNvSpPr/>
          <p:nvPr/>
        </p:nvSpPr>
        <p:spPr>
          <a:xfrm>
            <a:off x="502920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14" name="TextBox 113"/>
          <p:cNvSpPr txBox="1"/>
          <p:nvPr/>
        </p:nvSpPr>
        <p:spPr>
          <a:xfrm>
            <a:off x="4572000" y="2560320"/>
            <a:ext cx="1737360" cy="320040"/>
          </a:xfrm>
          <a:prstGeom prst="rect">
            <a:avLst/>
          </a:prstGeom>
          <a:noFill/>
        </p:spPr>
        <p:txBody>
          <a:bodyPr wrap="square" lIns="0" tIns="0" rIns="0" bIns="0" anchor="t">
            <a:spAutoFit/>
          </a:bodyPr>
          <a:lstStyle/>
          <a:p>
            <a:pPr algn="ctr"/>
            <a:r>
              <a:rPr sz="1400" b="1" i="0">
                <a:solidFill>
                  <a:srgbClr val="701C7F"/>
                </a:solidFill>
                <a:latin typeface="Inter"/>
              </a:rPr>
              <a:t>Sim-first</a:t>
            </a:r>
          </a:p>
        </p:txBody>
      </p:sp>
      <p:sp>
        <p:nvSpPr>
          <p:cNvPr id="115" name="TextBox 114"/>
          <p:cNvSpPr txBox="1"/>
          <p:nvPr/>
        </p:nvSpPr>
        <p:spPr>
          <a:xfrm>
            <a:off x="4663440" y="2971800"/>
            <a:ext cx="1554480" cy="640080"/>
          </a:xfrm>
          <a:prstGeom prst="rect">
            <a:avLst/>
          </a:prstGeom>
          <a:noFill/>
        </p:spPr>
        <p:txBody>
          <a:bodyPr wrap="square" lIns="0" tIns="0" rIns="0" bIns="0" anchor="t">
            <a:spAutoFit/>
          </a:bodyPr>
          <a:lstStyle/>
          <a:p>
            <a:pPr algn="ctr"/>
            <a:r>
              <a:rPr sz="1100" b="0" i="0">
                <a:solidFill>
                  <a:srgbClr val="595959"/>
                </a:solidFill>
                <a:latin typeface="Inter"/>
              </a:rPr>
              <a:t>test without</a:t>
            </a:r>
          </a:p>
          <a:p>
            <a:pPr algn="ctr"/>
            <a:r>
              <a:rPr sz="1100" b="0" i="0">
                <a:solidFill>
                  <a:srgbClr val="595959"/>
                </a:solidFill>
                <a:latin typeface="Inter"/>
              </a:rPr>
              <a:t>hardware</a:t>
            </a:r>
          </a:p>
        </p:txBody>
      </p:sp>
      <p:sp>
        <p:nvSpPr>
          <p:cNvPr id="116" name="Rounded Rectangle 115"/>
          <p:cNvSpPr/>
          <p:nvPr/>
        </p:nvSpPr>
        <p:spPr>
          <a:xfrm>
            <a:off x="6492240" y="1325880"/>
            <a:ext cx="1737360" cy="2514600"/>
          </a:xfrm>
          <a:prstGeom prst="roundRect">
            <a:avLst>
              <a:gd name="adj" fmla="val 10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17" name="Oval 116"/>
          <p:cNvSpPr/>
          <p:nvPr/>
        </p:nvSpPr>
        <p:spPr>
          <a:xfrm>
            <a:off x="6949440" y="1554480"/>
            <a:ext cx="822960" cy="822960"/>
          </a:xfrm>
          <a:prstGeom prst="ellipse">
            <a:avLst/>
          </a:prstGeom>
          <a:solidFill>
            <a:srgbClr val="FFFFF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600" b="1" i="0">
                <a:solidFill>
                  <a:srgbClr val="FFFFFF"/>
                </a:solidFill>
                <a:latin typeface="Inter"/>
              </a:rPr>
              <a:t>🌐</a:t>
            </a:r>
          </a:p>
        </p:txBody>
      </p:sp>
      <p:sp>
        <p:nvSpPr>
          <p:cNvPr id="118" name="TextBox 117"/>
          <p:cNvSpPr txBox="1"/>
          <p:nvPr/>
        </p:nvSpPr>
        <p:spPr>
          <a:xfrm>
            <a:off x="6492240" y="2560320"/>
            <a:ext cx="1737360" cy="320040"/>
          </a:xfrm>
          <a:prstGeom prst="rect">
            <a:avLst/>
          </a:prstGeom>
          <a:noFill/>
        </p:spPr>
        <p:txBody>
          <a:bodyPr wrap="square" lIns="0" tIns="0" rIns="0" bIns="0" anchor="t">
            <a:spAutoFit/>
          </a:bodyPr>
          <a:lstStyle/>
          <a:p>
            <a:pPr algn="ctr"/>
            <a:r>
              <a:rPr sz="1400" b="1" i="0">
                <a:solidFill>
                  <a:srgbClr val="701C7F"/>
                </a:solidFill>
                <a:latin typeface="Inter"/>
              </a:rPr>
              <a:t>Open stack</a:t>
            </a:r>
          </a:p>
        </p:txBody>
      </p:sp>
      <p:sp>
        <p:nvSpPr>
          <p:cNvPr id="119" name="TextBox 118"/>
          <p:cNvSpPr txBox="1"/>
          <p:nvPr/>
        </p:nvSpPr>
        <p:spPr>
          <a:xfrm>
            <a:off x="6583680" y="2971800"/>
            <a:ext cx="1554480" cy="640080"/>
          </a:xfrm>
          <a:prstGeom prst="rect">
            <a:avLst/>
          </a:prstGeom>
          <a:noFill/>
        </p:spPr>
        <p:txBody>
          <a:bodyPr wrap="square" lIns="0" tIns="0" rIns="0" bIns="0" anchor="t">
            <a:spAutoFit/>
          </a:bodyPr>
          <a:lstStyle/>
          <a:p>
            <a:pPr algn="ctr"/>
            <a:r>
              <a:rPr sz="1100" b="0" i="0">
                <a:solidFill>
                  <a:srgbClr val="595959"/>
                </a:solidFill>
                <a:latin typeface="Inter"/>
              </a:rPr>
              <a:t>Eclipse SDV</a:t>
            </a:r>
          </a:p>
          <a:p>
            <a:pPr algn="ctr"/>
            <a:r>
              <a:rPr sz="1100" b="0" i="0">
                <a:solidFill>
                  <a:srgbClr val="595959"/>
                </a:solidFill>
                <a:latin typeface="Inter"/>
              </a:rPr>
              <a:t>inside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12609F3-746D-5842-EE95-16E8E2A9829C}"/>
              </a:ext>
            </a:extLst>
          </p:cNvPr>
          <p:cNvSpPr/>
          <p:nvPr/>
        </p:nvSpPr>
        <p:spPr>
          <a:xfrm>
            <a:off x="2429572" y="100092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Docker Simulators</a:t>
            </a:r>
          </a:p>
        </p:txBody>
      </p:sp>
      <p:sp>
        <p:nvSpPr>
          <p:cNvPr id="5" name="Rounded Rectangle 4">
            <a:extLst>
              <a:ext uri="{FF2B5EF4-FFF2-40B4-BE49-F238E27FC236}">
                <a16:creationId xmlns:a16="http://schemas.microsoft.com/office/drawing/2014/main" id="{684CD456-8740-7B40-8B33-F218FFFD039E}"/>
              </a:ext>
            </a:extLst>
          </p:cNvPr>
          <p:cNvSpPr/>
          <p:nvPr/>
        </p:nvSpPr>
        <p:spPr>
          <a:xfrm>
            <a:off x="2429571" y="2071441"/>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Zenoh Route</a:t>
            </a:r>
          </a:p>
        </p:txBody>
      </p:sp>
      <p:sp>
        <p:nvSpPr>
          <p:cNvPr id="6" name="Rounded Rectangle 5">
            <a:extLst>
              <a:ext uri="{FF2B5EF4-FFF2-40B4-BE49-F238E27FC236}">
                <a16:creationId xmlns:a16="http://schemas.microsoft.com/office/drawing/2014/main" id="{D4D76F73-4FDF-5DC1-8F68-3C361F41ECDD}"/>
              </a:ext>
            </a:extLst>
          </p:cNvPr>
          <p:cNvSpPr/>
          <p:nvPr/>
        </p:nvSpPr>
        <p:spPr>
          <a:xfrm>
            <a:off x="351265" y="1000925"/>
            <a:ext cx="1321419"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8588" indent="-128588">
              <a:buFont typeface="Arial" panose="020B0604020202020204" pitchFamily="34" charset="0"/>
              <a:buChar char="•"/>
            </a:pPr>
            <a:r>
              <a:rPr lang="en-DE" sz="600" dirty="0"/>
              <a:t>Temperature Simulator </a:t>
            </a:r>
          </a:p>
          <a:p>
            <a:pPr marL="128588" indent="-128588">
              <a:buFont typeface="Arial" panose="020B0604020202020204" pitchFamily="34" charset="0"/>
              <a:buChar char="•"/>
            </a:pPr>
            <a:r>
              <a:rPr lang="en-DE" sz="600" dirty="0"/>
              <a:t>Window Simulator  </a:t>
            </a:r>
          </a:p>
          <a:p>
            <a:pPr marL="128588" indent="-128588">
              <a:buFont typeface="Arial" panose="020B0604020202020204" pitchFamily="34" charset="0"/>
              <a:buChar char="•"/>
            </a:pPr>
            <a:r>
              <a:rPr lang="en-DE" sz="600" dirty="0"/>
              <a:t>Child Presence Simulator </a:t>
            </a:r>
          </a:p>
          <a:p>
            <a:pPr marL="128588" indent="-128588">
              <a:buFont typeface="Arial" panose="020B0604020202020204" pitchFamily="34" charset="0"/>
              <a:buChar char="•"/>
            </a:pPr>
            <a:r>
              <a:rPr lang="en-DE" sz="600" dirty="0"/>
              <a:t>HVAC Simulator    </a:t>
            </a:r>
          </a:p>
          <a:p>
            <a:pPr marL="128588" indent="-128588">
              <a:buFont typeface="Arial" panose="020B0604020202020204" pitchFamily="34" charset="0"/>
              <a:buChar char="•"/>
            </a:pPr>
            <a:r>
              <a:rPr lang="en-DE" sz="600" dirty="0"/>
              <a:t>Guardian </a:t>
            </a:r>
          </a:p>
        </p:txBody>
      </p:sp>
      <p:sp>
        <p:nvSpPr>
          <p:cNvPr id="7" name="Rounded Rectangle 6">
            <a:extLst>
              <a:ext uri="{FF2B5EF4-FFF2-40B4-BE49-F238E27FC236}">
                <a16:creationId xmlns:a16="http://schemas.microsoft.com/office/drawing/2014/main" id="{76977979-5E36-A5BC-D757-D6807DEC1167}"/>
              </a:ext>
            </a:extLst>
          </p:cNvPr>
          <p:cNvSpPr/>
          <p:nvPr/>
        </p:nvSpPr>
        <p:spPr>
          <a:xfrm>
            <a:off x="2429569" y="4112114"/>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Write CSV</a:t>
            </a:r>
          </a:p>
        </p:txBody>
      </p:sp>
      <p:sp>
        <p:nvSpPr>
          <p:cNvPr id="8" name="Rounded Rectangle 7">
            <a:extLst>
              <a:ext uri="{FF2B5EF4-FFF2-40B4-BE49-F238E27FC236}">
                <a16:creationId xmlns:a16="http://schemas.microsoft.com/office/drawing/2014/main" id="{6CE0A187-D75B-4F23-C46C-ADAAA37B005B}"/>
              </a:ext>
            </a:extLst>
          </p:cNvPr>
          <p:cNvSpPr/>
          <p:nvPr/>
        </p:nvSpPr>
        <p:spPr>
          <a:xfrm>
            <a:off x="2429570" y="3141956"/>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Python Data Collector</a:t>
            </a:r>
          </a:p>
        </p:txBody>
      </p:sp>
      <p:cxnSp>
        <p:nvCxnSpPr>
          <p:cNvPr id="10" name="Straight Arrow Connector 9">
            <a:extLst>
              <a:ext uri="{FF2B5EF4-FFF2-40B4-BE49-F238E27FC236}">
                <a16:creationId xmlns:a16="http://schemas.microsoft.com/office/drawing/2014/main" id="{E40351D4-713C-6B2C-AE2F-E0C095A35277}"/>
              </a:ext>
            </a:extLst>
          </p:cNvPr>
          <p:cNvCxnSpPr>
            <a:stCxn id="4" idx="2"/>
            <a:endCxn id="5" idx="0"/>
          </p:cNvCxnSpPr>
          <p:nvPr/>
        </p:nvCxnSpPr>
        <p:spPr>
          <a:xfrm flipH="1">
            <a:off x="3161370" y="1669999"/>
            <a:ext cx="1" cy="401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C82F6154-AD9E-35ED-382E-27312110AD4D}"/>
              </a:ext>
            </a:extLst>
          </p:cNvPr>
          <p:cNvCxnSpPr>
            <a:stCxn id="6" idx="3"/>
            <a:endCxn id="4" idx="1"/>
          </p:cNvCxnSpPr>
          <p:nvPr/>
        </p:nvCxnSpPr>
        <p:spPr>
          <a:xfrm>
            <a:off x="1672684" y="1335462"/>
            <a:ext cx="7568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E3FE7BD-A018-6C30-D0DC-77CE11260B9A}"/>
              </a:ext>
            </a:extLst>
          </p:cNvPr>
          <p:cNvSpPr txBox="1"/>
          <p:nvPr/>
        </p:nvSpPr>
        <p:spPr>
          <a:xfrm>
            <a:off x="3161368" y="1732220"/>
            <a:ext cx="1078883" cy="300082"/>
          </a:xfrm>
          <a:prstGeom prst="rect">
            <a:avLst/>
          </a:prstGeom>
          <a:noFill/>
        </p:spPr>
        <p:txBody>
          <a:bodyPr wrap="square" rtlCol="0">
            <a:spAutoFit/>
          </a:bodyPr>
          <a:lstStyle/>
          <a:p>
            <a:r>
              <a:rPr lang="en-DE" sz="675" dirty="0"/>
              <a:t>Publishes Real-time data as uProtocol data</a:t>
            </a:r>
          </a:p>
        </p:txBody>
      </p:sp>
      <p:cxnSp>
        <p:nvCxnSpPr>
          <p:cNvPr id="16" name="Straight Arrow Connector 15">
            <a:extLst>
              <a:ext uri="{FF2B5EF4-FFF2-40B4-BE49-F238E27FC236}">
                <a16:creationId xmlns:a16="http://schemas.microsoft.com/office/drawing/2014/main" id="{B598AD92-6975-51EB-0E0F-302857BA80EB}"/>
              </a:ext>
            </a:extLst>
          </p:cNvPr>
          <p:cNvCxnSpPr>
            <a:cxnSpLocks/>
            <a:stCxn id="8" idx="2"/>
            <a:endCxn id="7" idx="0"/>
          </p:cNvCxnSpPr>
          <p:nvPr/>
        </p:nvCxnSpPr>
        <p:spPr>
          <a:xfrm flipH="1">
            <a:off x="3161368" y="3811030"/>
            <a:ext cx="1" cy="3010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62EA9F3-A20E-BCDA-8401-AC42772A68D1}"/>
              </a:ext>
            </a:extLst>
          </p:cNvPr>
          <p:cNvSpPr txBox="1"/>
          <p:nvPr/>
        </p:nvSpPr>
        <p:spPr>
          <a:xfrm>
            <a:off x="3250578" y="2802736"/>
            <a:ext cx="922763" cy="300082"/>
          </a:xfrm>
          <a:prstGeom prst="rect">
            <a:avLst/>
          </a:prstGeom>
          <a:noFill/>
        </p:spPr>
        <p:txBody>
          <a:bodyPr wrap="square" rtlCol="0">
            <a:spAutoFit/>
          </a:bodyPr>
          <a:lstStyle/>
          <a:p>
            <a:r>
              <a:rPr lang="en-DE" sz="675" dirty="0"/>
              <a:t>Python subscribes to those events</a:t>
            </a:r>
          </a:p>
        </p:txBody>
      </p:sp>
      <p:cxnSp>
        <p:nvCxnSpPr>
          <p:cNvPr id="22" name="Straight Arrow Connector 21">
            <a:extLst>
              <a:ext uri="{FF2B5EF4-FFF2-40B4-BE49-F238E27FC236}">
                <a16:creationId xmlns:a16="http://schemas.microsoft.com/office/drawing/2014/main" id="{199262B5-9CEA-ECCB-34C3-C63F13A02D8F}"/>
              </a:ext>
            </a:extLst>
          </p:cNvPr>
          <p:cNvCxnSpPr>
            <a:cxnSpLocks/>
            <a:stCxn id="5" idx="2"/>
            <a:endCxn id="8" idx="0"/>
          </p:cNvCxnSpPr>
          <p:nvPr/>
        </p:nvCxnSpPr>
        <p:spPr>
          <a:xfrm flipH="1">
            <a:off x="3161369" y="2740515"/>
            <a:ext cx="1" cy="4014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454F912C-B8B2-BE12-A479-CDE826D0389D}"/>
              </a:ext>
            </a:extLst>
          </p:cNvPr>
          <p:cNvSpPr/>
          <p:nvPr/>
        </p:nvSpPr>
        <p:spPr>
          <a:xfrm>
            <a:off x="4746232" y="100092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Data Cleaning</a:t>
            </a:r>
          </a:p>
        </p:txBody>
      </p:sp>
      <p:cxnSp>
        <p:nvCxnSpPr>
          <p:cNvPr id="30" name="Elbow Connector 29">
            <a:extLst>
              <a:ext uri="{FF2B5EF4-FFF2-40B4-BE49-F238E27FC236}">
                <a16:creationId xmlns:a16="http://schemas.microsoft.com/office/drawing/2014/main" id="{4913FAA8-61F2-36A5-0978-D278E5ADB0FA}"/>
              </a:ext>
            </a:extLst>
          </p:cNvPr>
          <p:cNvCxnSpPr>
            <a:cxnSpLocks/>
            <a:stCxn id="7" idx="3"/>
            <a:endCxn id="25" idx="1"/>
          </p:cNvCxnSpPr>
          <p:nvPr/>
        </p:nvCxnSpPr>
        <p:spPr>
          <a:xfrm flipV="1">
            <a:off x="3893166" y="1335462"/>
            <a:ext cx="853066" cy="311118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a:extLst>
              <a:ext uri="{FF2B5EF4-FFF2-40B4-BE49-F238E27FC236}">
                <a16:creationId xmlns:a16="http://schemas.microsoft.com/office/drawing/2014/main" id="{875228AD-4F85-F78F-253A-58CD2DA5F7B8}"/>
              </a:ext>
            </a:extLst>
          </p:cNvPr>
          <p:cNvSpPr/>
          <p:nvPr/>
        </p:nvSpPr>
        <p:spPr>
          <a:xfrm>
            <a:off x="4746232" y="1934839"/>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Feature Engineering</a:t>
            </a:r>
          </a:p>
        </p:txBody>
      </p:sp>
      <p:cxnSp>
        <p:nvCxnSpPr>
          <p:cNvPr id="35" name="Straight Arrow Connector 34">
            <a:extLst>
              <a:ext uri="{FF2B5EF4-FFF2-40B4-BE49-F238E27FC236}">
                <a16:creationId xmlns:a16="http://schemas.microsoft.com/office/drawing/2014/main" id="{F41E372E-CBEF-3FE0-0D85-ABA392CD293A}"/>
              </a:ext>
            </a:extLst>
          </p:cNvPr>
          <p:cNvCxnSpPr>
            <a:stCxn id="25" idx="2"/>
            <a:endCxn id="33" idx="0"/>
          </p:cNvCxnSpPr>
          <p:nvPr/>
        </p:nvCxnSpPr>
        <p:spPr>
          <a:xfrm>
            <a:off x="5478031" y="1669999"/>
            <a:ext cx="0" cy="2648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a:extLst>
              <a:ext uri="{FF2B5EF4-FFF2-40B4-BE49-F238E27FC236}">
                <a16:creationId xmlns:a16="http://schemas.microsoft.com/office/drawing/2014/main" id="{82F13F13-E42B-DADC-4C40-99FC92127716}"/>
              </a:ext>
            </a:extLst>
          </p:cNvPr>
          <p:cNvSpPr/>
          <p:nvPr/>
        </p:nvSpPr>
        <p:spPr>
          <a:xfrm>
            <a:off x="4746229" y="302835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Anamoly detection</a:t>
            </a:r>
          </a:p>
        </p:txBody>
      </p:sp>
      <p:sp>
        <p:nvSpPr>
          <p:cNvPr id="37" name="Rounded Rectangle 36">
            <a:extLst>
              <a:ext uri="{FF2B5EF4-FFF2-40B4-BE49-F238E27FC236}">
                <a16:creationId xmlns:a16="http://schemas.microsoft.com/office/drawing/2014/main" id="{5D08772E-BEBB-32AE-3EAC-DCF5E34096DE}"/>
              </a:ext>
            </a:extLst>
          </p:cNvPr>
          <p:cNvSpPr/>
          <p:nvPr/>
        </p:nvSpPr>
        <p:spPr>
          <a:xfrm>
            <a:off x="7132593" y="3012325"/>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Temperture predictions</a:t>
            </a:r>
          </a:p>
        </p:txBody>
      </p:sp>
      <p:sp>
        <p:nvSpPr>
          <p:cNvPr id="38" name="Rounded Rectangle 37">
            <a:extLst>
              <a:ext uri="{FF2B5EF4-FFF2-40B4-BE49-F238E27FC236}">
                <a16:creationId xmlns:a16="http://schemas.microsoft.com/office/drawing/2014/main" id="{90F0FBF8-234F-9319-B8E3-3D5A262F69C4}"/>
              </a:ext>
            </a:extLst>
          </p:cNvPr>
          <p:cNvSpPr/>
          <p:nvPr/>
        </p:nvSpPr>
        <p:spPr>
          <a:xfrm>
            <a:off x="4746229" y="4121871"/>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14313" indent="-214313">
              <a:buFont typeface="Arial" panose="020B0604020202020204" pitchFamily="34" charset="0"/>
              <a:buChar char="•"/>
            </a:pPr>
            <a:r>
              <a:rPr lang="en-DE" sz="788" dirty="0"/>
              <a:t>HVAC Anamolies</a:t>
            </a:r>
          </a:p>
          <a:p>
            <a:pPr marL="214313" indent="-214313">
              <a:buFont typeface="Arial" panose="020B0604020202020204" pitchFamily="34" charset="0"/>
              <a:buChar char="•"/>
            </a:pPr>
            <a:r>
              <a:rPr lang="en-DE" sz="788" dirty="0"/>
              <a:t>Temperature Anamolies</a:t>
            </a:r>
          </a:p>
          <a:p>
            <a:pPr marL="214313" indent="-214313">
              <a:buFont typeface="Arial" panose="020B0604020202020204" pitchFamily="34" charset="0"/>
              <a:buChar char="•"/>
            </a:pPr>
            <a:r>
              <a:rPr lang="en-DE" sz="788" dirty="0"/>
              <a:t>Child Safety Anamolies</a:t>
            </a:r>
          </a:p>
        </p:txBody>
      </p:sp>
      <p:sp>
        <p:nvSpPr>
          <p:cNvPr id="39" name="Rounded Rectangle 38">
            <a:extLst>
              <a:ext uri="{FF2B5EF4-FFF2-40B4-BE49-F238E27FC236}">
                <a16:creationId xmlns:a16="http://schemas.microsoft.com/office/drawing/2014/main" id="{38B0AB2F-6CC7-F549-BB70-F494BEC115B6}"/>
              </a:ext>
            </a:extLst>
          </p:cNvPr>
          <p:cNvSpPr/>
          <p:nvPr/>
        </p:nvSpPr>
        <p:spPr>
          <a:xfrm>
            <a:off x="7132593" y="4121872"/>
            <a:ext cx="1463597" cy="669074"/>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050" dirty="0"/>
              <a:t>How the temperature is likely to behave within the next 10 minutes.”</a:t>
            </a:r>
          </a:p>
        </p:txBody>
      </p:sp>
      <p:cxnSp>
        <p:nvCxnSpPr>
          <p:cNvPr id="40" name="Straight Arrow Connector 39">
            <a:extLst>
              <a:ext uri="{FF2B5EF4-FFF2-40B4-BE49-F238E27FC236}">
                <a16:creationId xmlns:a16="http://schemas.microsoft.com/office/drawing/2014/main" id="{3B7199C7-CCDE-CD90-7425-918704415C57}"/>
              </a:ext>
            </a:extLst>
          </p:cNvPr>
          <p:cNvCxnSpPr>
            <a:cxnSpLocks/>
            <a:stCxn id="38" idx="0"/>
            <a:endCxn id="36" idx="2"/>
          </p:cNvCxnSpPr>
          <p:nvPr/>
        </p:nvCxnSpPr>
        <p:spPr>
          <a:xfrm flipV="1">
            <a:off x="5478027" y="3697428"/>
            <a:ext cx="1" cy="424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1B7E69A-7388-7A40-B010-F2550E4F03E6}"/>
              </a:ext>
            </a:extLst>
          </p:cNvPr>
          <p:cNvCxnSpPr>
            <a:cxnSpLocks/>
            <a:stCxn id="39" idx="0"/>
          </p:cNvCxnSpPr>
          <p:nvPr/>
        </p:nvCxnSpPr>
        <p:spPr>
          <a:xfrm flipV="1">
            <a:off x="7864391" y="3689762"/>
            <a:ext cx="0" cy="432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6594D608-33F6-2D02-5420-CF470DF127D4}"/>
              </a:ext>
            </a:extLst>
          </p:cNvPr>
          <p:cNvCxnSpPr>
            <a:cxnSpLocks/>
            <a:stCxn id="33" idx="2"/>
            <a:endCxn id="36" idx="0"/>
          </p:cNvCxnSpPr>
          <p:nvPr/>
        </p:nvCxnSpPr>
        <p:spPr>
          <a:xfrm flipH="1">
            <a:off x="5478028" y="2603913"/>
            <a:ext cx="3" cy="4244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C06D2E69-5F3E-1F4B-746D-23AB50671167}"/>
              </a:ext>
            </a:extLst>
          </p:cNvPr>
          <p:cNvCxnSpPr>
            <a:stCxn id="33" idx="2"/>
            <a:endCxn id="37" idx="0"/>
          </p:cNvCxnSpPr>
          <p:nvPr/>
        </p:nvCxnSpPr>
        <p:spPr>
          <a:xfrm rot="16200000" flipH="1">
            <a:off x="6467005" y="1614938"/>
            <a:ext cx="408413" cy="238636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Google Shape;103;p18">
            <a:extLst>
              <a:ext uri="{FF2B5EF4-FFF2-40B4-BE49-F238E27FC236}">
                <a16:creationId xmlns:a16="http://schemas.microsoft.com/office/drawing/2014/main" id="{0392AAFA-3183-036C-ACE1-19D0EC1FA72B}"/>
              </a:ext>
            </a:extLst>
          </p:cNvPr>
          <p:cNvSpPr txBox="1"/>
          <p:nvPr/>
        </p:nvSpPr>
        <p:spPr>
          <a:xfrm>
            <a:off x="351265" y="324004"/>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dirty="0">
                <a:solidFill>
                  <a:srgbClr val="701C7F"/>
                </a:solidFill>
                <a:latin typeface="Inter"/>
                <a:ea typeface="Inter"/>
                <a:cs typeface="Inter"/>
                <a:sym typeface="Inter"/>
              </a:rPr>
              <a:t>Anomaly Detection and abnormal Temperature predictions</a:t>
            </a:r>
            <a:endParaRPr sz="400" dirty="0">
              <a:latin typeface="Inter ExtraBold"/>
              <a:ea typeface="Inter ExtraBold"/>
              <a:cs typeface="Inter ExtraBold"/>
              <a:sym typeface="Inter ExtraBold"/>
            </a:endParaRPr>
          </a:p>
        </p:txBody>
      </p:sp>
    </p:spTree>
    <p:extLst>
      <p:ext uri="{BB962C8B-B14F-4D97-AF65-F5344CB8AC3E}">
        <p14:creationId xmlns:p14="http://schemas.microsoft.com/office/powerpoint/2010/main" val="2846142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681A4-C580-A8A0-99FF-D11E7D6C1E72}"/>
            </a:ext>
          </a:extLst>
        </p:cNvPr>
        <p:cNvGrpSpPr/>
        <p:nvPr/>
      </p:nvGrpSpPr>
      <p:grpSpPr>
        <a:xfrm>
          <a:off x="0" y="0"/>
          <a:ext cx="0" cy="0"/>
          <a:chOff x="0" y="0"/>
          <a:chExt cx="0" cy="0"/>
        </a:xfrm>
      </p:grpSpPr>
      <p:sp>
        <p:nvSpPr>
          <p:cNvPr id="3" name="Google Shape;103;p18">
            <a:extLst>
              <a:ext uri="{FF2B5EF4-FFF2-40B4-BE49-F238E27FC236}">
                <a16:creationId xmlns:a16="http://schemas.microsoft.com/office/drawing/2014/main" id="{EF97A418-B842-C35B-1840-AC751CE85194}"/>
              </a:ext>
            </a:extLst>
          </p:cNvPr>
          <p:cNvSpPr txBox="1"/>
          <p:nvPr/>
        </p:nvSpPr>
        <p:spPr>
          <a:xfrm>
            <a:off x="305923" y="263548"/>
            <a:ext cx="8641594" cy="4647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dirty="0">
                <a:solidFill>
                  <a:srgbClr val="701C7F"/>
                </a:solidFill>
                <a:latin typeface="Inter"/>
                <a:ea typeface="Inter"/>
                <a:cs typeface="Inter"/>
                <a:sym typeface="Inter"/>
              </a:rPr>
              <a:t>Anomaly Detection Observations</a:t>
            </a:r>
            <a:endParaRPr sz="400" dirty="0">
              <a:latin typeface="Inter ExtraBold"/>
              <a:ea typeface="Inter ExtraBold"/>
              <a:cs typeface="Inter ExtraBold"/>
              <a:sym typeface="Inter ExtraBold"/>
            </a:endParaRPr>
          </a:p>
        </p:txBody>
      </p:sp>
      <p:pic>
        <p:nvPicPr>
          <p:cNvPr id="11" name="Picture 10">
            <a:extLst>
              <a:ext uri="{FF2B5EF4-FFF2-40B4-BE49-F238E27FC236}">
                <a16:creationId xmlns:a16="http://schemas.microsoft.com/office/drawing/2014/main" id="{428E6F4C-4F96-9121-5A1E-4B47F7C39616}"/>
              </a:ext>
            </a:extLst>
          </p:cNvPr>
          <p:cNvPicPr>
            <a:picLocks noChangeAspect="1"/>
          </p:cNvPicPr>
          <p:nvPr/>
        </p:nvPicPr>
        <p:blipFill>
          <a:blip r:embed="rId2"/>
          <a:stretch>
            <a:fillRect/>
          </a:stretch>
        </p:blipFill>
        <p:spPr>
          <a:xfrm>
            <a:off x="400855" y="761433"/>
            <a:ext cx="3105938" cy="1941211"/>
          </a:xfrm>
          <a:prstGeom prst="rect">
            <a:avLst/>
          </a:prstGeom>
        </p:spPr>
      </p:pic>
      <p:pic>
        <p:nvPicPr>
          <p:cNvPr id="18" name="Picture 17">
            <a:extLst>
              <a:ext uri="{FF2B5EF4-FFF2-40B4-BE49-F238E27FC236}">
                <a16:creationId xmlns:a16="http://schemas.microsoft.com/office/drawing/2014/main" id="{42F2D12B-86F1-CBA3-9AA5-0C2EEA6C8C37}"/>
              </a:ext>
            </a:extLst>
          </p:cNvPr>
          <p:cNvPicPr>
            <a:picLocks noChangeAspect="1"/>
          </p:cNvPicPr>
          <p:nvPr/>
        </p:nvPicPr>
        <p:blipFill>
          <a:blip r:embed="rId3"/>
          <a:stretch>
            <a:fillRect/>
          </a:stretch>
        </p:blipFill>
        <p:spPr>
          <a:xfrm>
            <a:off x="4545429" y="2801593"/>
            <a:ext cx="4112974" cy="1696305"/>
          </a:xfrm>
          <a:prstGeom prst="rect">
            <a:avLst/>
          </a:prstGeom>
        </p:spPr>
      </p:pic>
      <p:pic>
        <p:nvPicPr>
          <p:cNvPr id="21" name="Picture 20">
            <a:extLst>
              <a:ext uri="{FF2B5EF4-FFF2-40B4-BE49-F238E27FC236}">
                <a16:creationId xmlns:a16="http://schemas.microsoft.com/office/drawing/2014/main" id="{DC857B89-49E8-8B37-B688-F35FE77F41D2}"/>
              </a:ext>
            </a:extLst>
          </p:cNvPr>
          <p:cNvPicPr>
            <a:picLocks noChangeAspect="1"/>
          </p:cNvPicPr>
          <p:nvPr/>
        </p:nvPicPr>
        <p:blipFill>
          <a:blip r:embed="rId4"/>
          <a:stretch>
            <a:fillRect/>
          </a:stretch>
        </p:blipFill>
        <p:spPr>
          <a:xfrm>
            <a:off x="3913289" y="845073"/>
            <a:ext cx="4292649" cy="1839707"/>
          </a:xfrm>
          <a:prstGeom prst="rect">
            <a:avLst/>
          </a:prstGeom>
        </p:spPr>
      </p:pic>
      <p:pic>
        <p:nvPicPr>
          <p:cNvPr id="24" name="Picture 23">
            <a:extLst>
              <a:ext uri="{FF2B5EF4-FFF2-40B4-BE49-F238E27FC236}">
                <a16:creationId xmlns:a16="http://schemas.microsoft.com/office/drawing/2014/main" id="{45FC1601-233F-2588-2173-F1935354BD69}"/>
              </a:ext>
            </a:extLst>
          </p:cNvPr>
          <p:cNvPicPr>
            <a:picLocks noChangeAspect="1"/>
          </p:cNvPicPr>
          <p:nvPr/>
        </p:nvPicPr>
        <p:blipFill>
          <a:blip r:embed="rId5"/>
          <a:stretch>
            <a:fillRect/>
          </a:stretch>
        </p:blipFill>
        <p:spPr>
          <a:xfrm>
            <a:off x="305923" y="2735817"/>
            <a:ext cx="4112973" cy="2367641"/>
          </a:xfrm>
          <a:prstGeom prst="rect">
            <a:avLst/>
          </a:prstGeom>
        </p:spPr>
      </p:pic>
    </p:spTree>
    <p:extLst>
      <p:ext uri="{BB962C8B-B14F-4D97-AF65-F5344CB8AC3E}">
        <p14:creationId xmlns:p14="http://schemas.microsoft.com/office/powerpoint/2010/main" val="87592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9" name="Google Shape;109;p19"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1" name="Google Shape;111;p19"/>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Market &amp; Competition</a:t>
            </a:r>
            <a:endParaRPr sz="400">
              <a:latin typeface="Inter ExtraBold"/>
              <a:ea typeface="Inter ExtraBold"/>
              <a:cs typeface="Inter ExtraBold"/>
              <a:sym typeface="Inter ExtraBold"/>
            </a:endParaRPr>
          </a:p>
        </p:txBody>
      </p:sp>
      <p:sp>
        <p:nvSpPr>
          <p:cNvPr id="112" name="TextBox 111"/>
          <p:cNvSpPr txBox="1"/>
          <p:nvPr/>
        </p:nvSpPr>
        <p:spPr>
          <a:xfrm>
            <a:off x="731520" y="1234440"/>
            <a:ext cx="3657600" cy="274320"/>
          </a:xfrm>
          <a:prstGeom prst="rect">
            <a:avLst/>
          </a:prstGeom>
          <a:noFill/>
        </p:spPr>
        <p:txBody>
          <a:bodyPr wrap="square" lIns="0" tIns="0" rIns="0" bIns="0" anchor="t">
            <a:spAutoFit/>
          </a:bodyPr>
          <a:lstStyle/>
          <a:p>
            <a:pPr algn="l"/>
            <a:r>
              <a:rPr sz="1200" b="1" i="0">
                <a:solidFill>
                  <a:srgbClr val="DB521D"/>
                </a:solidFill>
                <a:latin typeface="Inter"/>
              </a:rPr>
              <a:t>Why now</a:t>
            </a:r>
          </a:p>
        </p:txBody>
      </p:sp>
      <p:sp>
        <p:nvSpPr>
          <p:cNvPr id="113" name="TextBox 112"/>
          <p:cNvSpPr txBox="1"/>
          <p:nvPr/>
        </p:nvSpPr>
        <p:spPr>
          <a:xfrm>
            <a:off x="731520" y="1554480"/>
            <a:ext cx="1234440" cy="685800"/>
          </a:xfrm>
          <a:prstGeom prst="rect">
            <a:avLst/>
          </a:prstGeom>
          <a:noFill/>
        </p:spPr>
        <p:txBody>
          <a:bodyPr wrap="square" lIns="0" tIns="0" rIns="0" bIns="0" anchor="ctr">
            <a:spAutoFit/>
          </a:bodyPr>
          <a:lstStyle/>
          <a:p>
            <a:pPr algn="l"/>
            <a:r>
              <a:rPr sz="2800" b="1" i="0">
                <a:solidFill>
                  <a:srgbClr val="DB521D"/>
                </a:solidFill>
                <a:latin typeface="Inter"/>
              </a:rPr>
              <a:t>~37</a:t>
            </a:r>
          </a:p>
        </p:txBody>
      </p:sp>
      <p:sp>
        <p:nvSpPr>
          <p:cNvPr id="114" name="TextBox 113"/>
          <p:cNvSpPr txBox="1"/>
          <p:nvPr/>
        </p:nvSpPr>
        <p:spPr>
          <a:xfrm>
            <a:off x="1965960" y="1554480"/>
            <a:ext cx="2103120" cy="685800"/>
          </a:xfrm>
          <a:prstGeom prst="rect">
            <a:avLst/>
          </a:prstGeom>
          <a:noFill/>
        </p:spPr>
        <p:txBody>
          <a:bodyPr wrap="square" lIns="0" tIns="0" rIns="0" bIns="0" anchor="ctr">
            <a:spAutoFit/>
          </a:bodyPr>
          <a:lstStyle/>
          <a:p>
            <a:pPr algn="l"/>
            <a:r>
              <a:rPr sz="1100" b="0" i="0">
                <a:solidFill>
                  <a:srgbClr val="595959"/>
                </a:solidFill>
                <a:latin typeface="Inter"/>
              </a:rPr>
              <a:t>kids / year die in</a:t>
            </a:r>
          </a:p>
          <a:p>
            <a:pPr algn="l"/>
            <a:r>
              <a:rPr sz="1100" b="0" i="0">
                <a:solidFill>
                  <a:srgbClr val="595959"/>
                </a:solidFill>
                <a:latin typeface="Inter"/>
              </a:rPr>
              <a:t>hot cars (US)</a:t>
            </a:r>
          </a:p>
        </p:txBody>
      </p:sp>
      <p:sp>
        <p:nvSpPr>
          <p:cNvPr id="115" name="TextBox 114"/>
          <p:cNvSpPr txBox="1"/>
          <p:nvPr/>
        </p:nvSpPr>
        <p:spPr>
          <a:xfrm>
            <a:off x="731520" y="2377440"/>
            <a:ext cx="1234440" cy="685800"/>
          </a:xfrm>
          <a:prstGeom prst="rect">
            <a:avLst/>
          </a:prstGeom>
          <a:noFill/>
        </p:spPr>
        <p:txBody>
          <a:bodyPr wrap="square" lIns="0" tIns="0" rIns="0" bIns="0" anchor="ctr">
            <a:spAutoFit/>
          </a:bodyPr>
          <a:lstStyle/>
          <a:p>
            <a:pPr algn="l"/>
            <a:r>
              <a:rPr sz="2800" b="1" i="0">
                <a:solidFill>
                  <a:srgbClr val="DB521D"/>
                </a:solidFill>
                <a:latin typeface="Inter"/>
              </a:rPr>
              <a:t>2025</a:t>
            </a:r>
          </a:p>
        </p:txBody>
      </p:sp>
      <p:sp>
        <p:nvSpPr>
          <p:cNvPr id="116" name="TextBox 115"/>
          <p:cNvSpPr txBox="1"/>
          <p:nvPr/>
        </p:nvSpPr>
        <p:spPr>
          <a:xfrm>
            <a:off x="1965960" y="2377440"/>
            <a:ext cx="2103120" cy="685800"/>
          </a:xfrm>
          <a:prstGeom prst="rect">
            <a:avLst/>
          </a:prstGeom>
          <a:noFill/>
        </p:spPr>
        <p:txBody>
          <a:bodyPr wrap="square" lIns="0" tIns="0" rIns="0" bIns="0" anchor="ctr">
            <a:spAutoFit/>
          </a:bodyPr>
          <a:lstStyle/>
          <a:p>
            <a:pPr algn="l"/>
            <a:r>
              <a:rPr sz="1100" b="0" i="0">
                <a:solidFill>
                  <a:srgbClr val="595959"/>
                </a:solidFill>
                <a:latin typeface="Inter"/>
              </a:rPr>
              <a:t>Euro NCAP: only direct</a:t>
            </a:r>
          </a:p>
          <a:p>
            <a:pPr algn="l"/>
            <a:r>
              <a:rPr sz="1100" b="0" i="0">
                <a:solidFill>
                  <a:srgbClr val="595959"/>
                </a:solidFill>
                <a:latin typeface="Inter"/>
              </a:rPr>
              <a:t>sensing scores</a:t>
            </a:r>
          </a:p>
        </p:txBody>
      </p:sp>
      <p:sp>
        <p:nvSpPr>
          <p:cNvPr id="117" name="TextBox 116"/>
          <p:cNvSpPr txBox="1"/>
          <p:nvPr/>
        </p:nvSpPr>
        <p:spPr>
          <a:xfrm>
            <a:off x="731520" y="3200400"/>
            <a:ext cx="1234440" cy="685800"/>
          </a:xfrm>
          <a:prstGeom prst="rect">
            <a:avLst/>
          </a:prstGeom>
          <a:noFill/>
        </p:spPr>
        <p:txBody>
          <a:bodyPr wrap="square" lIns="0" tIns="0" rIns="0" bIns="0" anchor="ctr">
            <a:spAutoFit/>
          </a:bodyPr>
          <a:lstStyle/>
          <a:p>
            <a:pPr algn="l"/>
            <a:r>
              <a:rPr sz="2800" b="1" i="0">
                <a:solidFill>
                  <a:srgbClr val="DB521D"/>
                </a:solidFill>
                <a:latin typeface="Inter"/>
              </a:rPr>
              <a:t>$2B</a:t>
            </a:r>
          </a:p>
        </p:txBody>
      </p:sp>
      <p:sp>
        <p:nvSpPr>
          <p:cNvPr id="118" name="TextBox 117"/>
          <p:cNvSpPr txBox="1"/>
          <p:nvPr/>
        </p:nvSpPr>
        <p:spPr>
          <a:xfrm>
            <a:off x="1965960" y="3200400"/>
            <a:ext cx="2103120" cy="685800"/>
          </a:xfrm>
          <a:prstGeom prst="rect">
            <a:avLst/>
          </a:prstGeom>
          <a:noFill/>
        </p:spPr>
        <p:txBody>
          <a:bodyPr wrap="square" lIns="0" tIns="0" rIns="0" bIns="0" anchor="ctr">
            <a:spAutoFit/>
          </a:bodyPr>
          <a:lstStyle/>
          <a:p>
            <a:pPr algn="l"/>
            <a:r>
              <a:rPr sz="1100" b="0" i="0">
                <a:solidFill>
                  <a:srgbClr val="595959"/>
                </a:solidFill>
                <a:latin typeface="Inter"/>
              </a:rPr>
              <a:t>CPD market</a:t>
            </a:r>
          </a:p>
          <a:p>
            <a:pPr algn="l"/>
            <a:r>
              <a:rPr sz="1100" b="0" i="0">
                <a:solidFill>
                  <a:srgbClr val="595959"/>
                </a:solidFill>
                <a:latin typeface="Inter"/>
              </a:rPr>
              <a:t>by 2034*</a:t>
            </a:r>
          </a:p>
        </p:txBody>
      </p:sp>
      <p:sp>
        <p:nvSpPr>
          <p:cNvPr id="119" name="TextBox 118"/>
          <p:cNvSpPr txBox="1"/>
          <p:nvPr/>
        </p:nvSpPr>
        <p:spPr>
          <a:xfrm>
            <a:off x="731520" y="4069080"/>
            <a:ext cx="3657600" cy="182880"/>
          </a:xfrm>
          <a:prstGeom prst="rect">
            <a:avLst/>
          </a:prstGeom>
          <a:noFill/>
        </p:spPr>
        <p:txBody>
          <a:bodyPr wrap="square" lIns="0" tIns="0" rIns="0" bIns="0" anchor="t">
            <a:spAutoFit/>
          </a:bodyPr>
          <a:lstStyle/>
          <a:p>
            <a:pPr algn="l"/>
            <a:r>
              <a:rPr sz="900" b="0" i="0">
                <a:solidFill>
                  <a:srgbClr val="595959"/>
                </a:solidFill>
                <a:latin typeface="Inter"/>
              </a:rPr>
              <a:t>* analyst estimate (GM Insights), estimates vary</a:t>
            </a:r>
          </a:p>
        </p:txBody>
      </p:sp>
      <p:sp>
        <p:nvSpPr>
          <p:cNvPr id="120" name="TextBox 119"/>
          <p:cNvSpPr txBox="1"/>
          <p:nvPr/>
        </p:nvSpPr>
        <p:spPr>
          <a:xfrm>
            <a:off x="4572000" y="1234440"/>
            <a:ext cx="3657600" cy="274320"/>
          </a:xfrm>
          <a:prstGeom prst="rect">
            <a:avLst/>
          </a:prstGeom>
          <a:noFill/>
        </p:spPr>
        <p:txBody>
          <a:bodyPr wrap="square" lIns="0" tIns="0" rIns="0" bIns="0" anchor="t">
            <a:spAutoFit/>
          </a:bodyPr>
          <a:lstStyle/>
          <a:p>
            <a:pPr algn="l"/>
            <a:r>
              <a:rPr sz="1200" b="1" i="0">
                <a:solidFill>
                  <a:srgbClr val="595959"/>
                </a:solidFill>
                <a:latin typeface="Inter"/>
              </a:rPr>
              <a:t>They sell sensor systems</a:t>
            </a:r>
          </a:p>
        </p:txBody>
      </p:sp>
      <p:sp>
        <p:nvSpPr>
          <p:cNvPr id="121" name="Rounded Rectangle 120"/>
          <p:cNvSpPr/>
          <p:nvPr/>
        </p:nvSpPr>
        <p:spPr>
          <a:xfrm>
            <a:off x="4572000" y="155448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IEE</a:t>
            </a:r>
          </a:p>
        </p:txBody>
      </p:sp>
      <p:sp>
        <p:nvSpPr>
          <p:cNvPr id="122" name="Rounded Rectangle 121"/>
          <p:cNvSpPr/>
          <p:nvPr/>
        </p:nvSpPr>
        <p:spPr>
          <a:xfrm>
            <a:off x="5824728" y="155448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Vayyar</a:t>
            </a:r>
          </a:p>
        </p:txBody>
      </p:sp>
      <p:sp>
        <p:nvSpPr>
          <p:cNvPr id="123" name="Rounded Rectangle 122"/>
          <p:cNvSpPr/>
          <p:nvPr/>
        </p:nvSpPr>
        <p:spPr>
          <a:xfrm>
            <a:off x="7077456" y="155448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Valeo</a:t>
            </a:r>
          </a:p>
        </p:txBody>
      </p:sp>
      <p:sp>
        <p:nvSpPr>
          <p:cNvPr id="124" name="Rounded Rectangle 123"/>
          <p:cNvSpPr/>
          <p:nvPr/>
        </p:nvSpPr>
        <p:spPr>
          <a:xfrm>
            <a:off x="4572000" y="205740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Continental</a:t>
            </a:r>
          </a:p>
        </p:txBody>
      </p:sp>
      <p:sp>
        <p:nvSpPr>
          <p:cNvPr id="125" name="Rounded Rectangle 124"/>
          <p:cNvSpPr/>
          <p:nvPr/>
        </p:nvSpPr>
        <p:spPr>
          <a:xfrm>
            <a:off x="5824728" y="2057400"/>
            <a:ext cx="1143000" cy="384048"/>
          </a:xfrm>
          <a:prstGeom prst="roundRect">
            <a:avLst>
              <a:gd name="adj" fmla="val 18000"/>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595959"/>
                </a:solidFill>
                <a:latin typeface="Inter"/>
              </a:rPr>
              <a:t>Infineon</a:t>
            </a:r>
          </a:p>
        </p:txBody>
      </p:sp>
      <p:sp>
        <p:nvSpPr>
          <p:cNvPr id="126" name="TextBox 125"/>
          <p:cNvSpPr txBox="1"/>
          <p:nvPr/>
        </p:nvSpPr>
        <p:spPr>
          <a:xfrm>
            <a:off x="4572000" y="2697480"/>
            <a:ext cx="3657600" cy="274320"/>
          </a:xfrm>
          <a:prstGeom prst="rect">
            <a:avLst/>
          </a:prstGeom>
          <a:noFill/>
        </p:spPr>
        <p:txBody>
          <a:bodyPr wrap="square" lIns="0" tIns="0" rIns="0" bIns="0" anchor="t">
            <a:spAutoFit/>
          </a:bodyPr>
          <a:lstStyle/>
          <a:p>
            <a:pPr algn="l"/>
            <a:r>
              <a:rPr sz="1200" b="1" i="0">
                <a:solidFill>
                  <a:srgbClr val="701C7F"/>
                </a:solidFill>
                <a:latin typeface="Inter"/>
              </a:rPr>
              <a:t>We sell the logic</a:t>
            </a:r>
          </a:p>
        </p:txBody>
      </p:sp>
      <p:sp>
        <p:nvSpPr>
          <p:cNvPr id="127" name="Rounded Rectangle 126"/>
          <p:cNvSpPr/>
          <p:nvPr/>
        </p:nvSpPr>
        <p:spPr>
          <a:xfrm>
            <a:off x="4572000" y="3017520"/>
            <a:ext cx="3703320" cy="777240"/>
          </a:xfrm>
          <a:prstGeom prst="roundRect">
            <a:avLst>
              <a:gd name="adj" fmla="val 18000"/>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Inter"/>
              </a:rPr>
              <a:t>any sensor  →  decide  →  mitigate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17" name="Google Shape;117;p20"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9" name="Google Shape;119;p20"/>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Business Model</a:t>
            </a:r>
            <a:endParaRPr sz="400">
              <a:latin typeface="Inter ExtraBold"/>
              <a:ea typeface="Inter ExtraBold"/>
              <a:cs typeface="Inter ExtraBold"/>
              <a:sym typeface="Inter ExtraBold"/>
            </a:endParaRPr>
          </a:p>
        </p:txBody>
      </p:sp>
      <p:sp>
        <p:nvSpPr>
          <p:cNvPr id="120" name="Pentagon 119"/>
          <p:cNvSpPr/>
          <p:nvPr/>
        </p:nvSpPr>
        <p:spPr>
          <a:xfrm>
            <a:off x="731520" y="1828800"/>
            <a:ext cx="2377440" cy="1005840"/>
          </a:xfrm>
          <a:prstGeom prst="homePlate">
            <a:avLst/>
          </a:prstGeom>
          <a:solidFill>
            <a:srgbClr val="701C7F"/>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1  </a:t>
            </a:r>
            <a:r>
              <a:rPr sz="1800" b="1" i="0">
                <a:solidFill>
                  <a:srgbClr val="FFFFFF"/>
                </a:solidFill>
                <a:latin typeface="Inter"/>
              </a:rPr>
              <a:t>Open core</a:t>
            </a:r>
          </a:p>
        </p:txBody>
      </p:sp>
      <p:sp>
        <p:nvSpPr>
          <p:cNvPr id="121" name="TextBox 120"/>
          <p:cNvSpPr txBox="1"/>
          <p:nvPr/>
        </p:nvSpPr>
        <p:spPr>
          <a:xfrm>
            <a:off x="914400" y="3063240"/>
            <a:ext cx="2011680" cy="822960"/>
          </a:xfrm>
          <a:prstGeom prst="rect">
            <a:avLst/>
          </a:prstGeom>
          <a:noFill/>
        </p:spPr>
        <p:txBody>
          <a:bodyPr wrap="square" lIns="0" tIns="0" rIns="0" bIns="0" anchor="t">
            <a:spAutoFit/>
          </a:bodyPr>
          <a:lstStyle/>
          <a:p>
            <a:pPr algn="ctr"/>
            <a:r>
              <a:rPr sz="1400" b="0" i="0">
                <a:solidFill>
                  <a:srgbClr val="595959"/>
                </a:solidFill>
                <a:latin typeface="Inter"/>
              </a:rPr>
              <a:t>Eclipse SDV</a:t>
            </a:r>
          </a:p>
          <a:p>
            <a:pPr algn="ctr"/>
            <a:r>
              <a:rPr sz="1400" b="0" i="0">
                <a:solidFill>
                  <a:srgbClr val="595959"/>
                </a:solidFill>
                <a:latin typeface="Inter"/>
              </a:rPr>
              <a:t>free to adopt</a:t>
            </a:r>
          </a:p>
        </p:txBody>
      </p:sp>
      <p:sp>
        <p:nvSpPr>
          <p:cNvPr id="122" name="Chevron 121"/>
          <p:cNvSpPr/>
          <p:nvPr/>
        </p:nvSpPr>
        <p:spPr>
          <a:xfrm>
            <a:off x="3314700" y="1828800"/>
            <a:ext cx="2377440" cy="1005840"/>
          </a:xfrm>
          <a:prstGeom prst="chevron">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2  </a:t>
            </a:r>
            <a:r>
              <a:rPr sz="1800" b="1" i="0">
                <a:solidFill>
                  <a:srgbClr val="531B4C"/>
                </a:solidFill>
                <a:latin typeface="Inter"/>
              </a:rPr>
              <a:t>Integrate</a:t>
            </a:r>
          </a:p>
        </p:txBody>
      </p:sp>
      <p:sp>
        <p:nvSpPr>
          <p:cNvPr id="123" name="TextBox 122"/>
          <p:cNvSpPr txBox="1"/>
          <p:nvPr/>
        </p:nvSpPr>
        <p:spPr>
          <a:xfrm>
            <a:off x="3497580" y="3063240"/>
            <a:ext cx="2011680" cy="822960"/>
          </a:xfrm>
          <a:prstGeom prst="rect">
            <a:avLst/>
          </a:prstGeom>
          <a:noFill/>
        </p:spPr>
        <p:txBody>
          <a:bodyPr wrap="square" lIns="0" tIns="0" rIns="0" bIns="0" anchor="t">
            <a:spAutoFit/>
          </a:bodyPr>
          <a:lstStyle/>
          <a:p>
            <a:pPr algn="ctr"/>
            <a:r>
              <a:rPr sz="1400" b="0" i="0">
                <a:solidFill>
                  <a:srgbClr val="595959"/>
                </a:solidFill>
                <a:latin typeface="Inter"/>
              </a:rPr>
              <a:t>OEM / Tier-1 porting</a:t>
            </a:r>
          </a:p>
          <a:p>
            <a:pPr algn="ctr"/>
            <a:r>
              <a:rPr sz="1400" b="0" i="0">
                <a:solidFill>
                  <a:srgbClr val="595959"/>
                </a:solidFill>
                <a:latin typeface="Inter"/>
              </a:rPr>
              <a:t>&amp; NCAP validation</a:t>
            </a:r>
          </a:p>
        </p:txBody>
      </p:sp>
      <p:sp>
        <p:nvSpPr>
          <p:cNvPr id="124" name="Chevron 123"/>
          <p:cNvSpPr/>
          <p:nvPr/>
        </p:nvSpPr>
        <p:spPr>
          <a:xfrm>
            <a:off x="5897880" y="1828800"/>
            <a:ext cx="2377440" cy="1005840"/>
          </a:xfrm>
          <a:prstGeom prst="chevron">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DB521D"/>
                </a:solidFill>
                <a:latin typeface="Inter"/>
              </a:rPr>
              <a:t>3  </a:t>
            </a:r>
            <a:r>
              <a:rPr sz="1800" b="1" i="0">
                <a:solidFill>
                  <a:srgbClr val="531B4C"/>
                </a:solidFill>
                <a:latin typeface="Inter"/>
              </a:rPr>
              <a:t>Update</a:t>
            </a:r>
          </a:p>
        </p:txBody>
      </p:sp>
      <p:sp>
        <p:nvSpPr>
          <p:cNvPr id="125" name="TextBox 124"/>
          <p:cNvSpPr txBox="1"/>
          <p:nvPr/>
        </p:nvSpPr>
        <p:spPr>
          <a:xfrm>
            <a:off x="6080760" y="3063240"/>
            <a:ext cx="2011680" cy="822960"/>
          </a:xfrm>
          <a:prstGeom prst="rect">
            <a:avLst/>
          </a:prstGeom>
          <a:noFill/>
        </p:spPr>
        <p:txBody>
          <a:bodyPr wrap="square" lIns="0" tIns="0" rIns="0" bIns="0" anchor="t">
            <a:spAutoFit/>
          </a:bodyPr>
          <a:lstStyle/>
          <a:p>
            <a:pPr algn="ctr"/>
            <a:r>
              <a:rPr sz="1400" b="0" i="0">
                <a:solidFill>
                  <a:srgbClr val="595959"/>
                </a:solidFill>
                <a:latin typeface="Inter"/>
              </a:rPr>
              <a:t>OTA features</a:t>
            </a:r>
          </a:p>
          <a:p>
            <a:pPr algn="ctr"/>
            <a:r>
              <a:rPr sz="1400" b="0" i="0">
                <a:solidFill>
                  <a:srgbClr val="595959"/>
                </a:solidFill>
                <a:latin typeface="Inter"/>
              </a:rPr>
              <a:t>&amp; licensing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Where We Stand</a:t>
            </a:r>
            <a:endParaRPr sz="400">
              <a:latin typeface="Inter ExtraBold"/>
              <a:ea typeface="Inter ExtraBold"/>
              <a:cs typeface="Inter ExtraBold"/>
              <a:sym typeface="Inter ExtraBold"/>
            </a:endParaRPr>
          </a:p>
        </p:txBody>
      </p:sp>
      <p:sp>
        <p:nvSpPr>
          <p:cNvPr id="104" name="TextBox 103"/>
          <p:cNvSpPr txBox="1"/>
          <p:nvPr/>
        </p:nvSpPr>
        <p:spPr>
          <a:xfrm>
            <a:off x="731520" y="1234440"/>
            <a:ext cx="3657600" cy="274320"/>
          </a:xfrm>
          <a:prstGeom prst="rect">
            <a:avLst/>
          </a:prstGeom>
          <a:noFill/>
        </p:spPr>
        <p:txBody>
          <a:bodyPr wrap="square" lIns="0" tIns="0" rIns="0" bIns="0" anchor="t">
            <a:spAutoFit/>
          </a:bodyPr>
          <a:lstStyle/>
          <a:p>
            <a:pPr algn="l"/>
            <a:r>
              <a:rPr sz="1200" b="1" i="0">
                <a:solidFill>
                  <a:srgbClr val="2E9E5B"/>
                </a:solidFill>
                <a:latin typeface="Inter"/>
              </a:rPr>
              <a:t>Done</a:t>
            </a:r>
          </a:p>
        </p:txBody>
      </p:sp>
      <p:sp>
        <p:nvSpPr>
          <p:cNvPr id="105" name="TextBox 104"/>
          <p:cNvSpPr txBox="1"/>
          <p:nvPr/>
        </p:nvSpPr>
        <p:spPr>
          <a:xfrm>
            <a:off x="4572000" y="1234440"/>
            <a:ext cx="3657600" cy="274320"/>
          </a:xfrm>
          <a:prstGeom prst="rect">
            <a:avLst/>
          </a:prstGeom>
          <a:noFill/>
        </p:spPr>
        <p:txBody>
          <a:bodyPr wrap="square" lIns="0" tIns="0" rIns="0" bIns="0" anchor="t">
            <a:spAutoFit/>
          </a:bodyPr>
          <a:lstStyle/>
          <a:p>
            <a:pPr algn="l"/>
            <a:r>
              <a:rPr sz="1200" b="1" i="0">
                <a:solidFill>
                  <a:srgbClr val="DB521D"/>
                </a:solidFill>
                <a:latin typeface="Inter"/>
              </a:rPr>
              <a:t>Next</a:t>
            </a:r>
          </a:p>
        </p:txBody>
      </p:sp>
      <p:sp>
        <p:nvSpPr>
          <p:cNvPr id="106" name="Rounded Rectangle 105"/>
          <p:cNvSpPr/>
          <p:nvPr/>
        </p:nvSpPr>
        <p:spPr>
          <a:xfrm>
            <a:off x="731520" y="15544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Real sensor · AZ3166</a:t>
            </a:r>
          </a:p>
        </p:txBody>
      </p:sp>
      <p:sp>
        <p:nvSpPr>
          <p:cNvPr id="107" name="Rounded Rectangle 106"/>
          <p:cNvSpPr/>
          <p:nvPr/>
        </p:nvSpPr>
        <p:spPr>
          <a:xfrm>
            <a:off x="731520" y="20116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Real window · S32K148</a:t>
            </a:r>
          </a:p>
        </p:txBody>
      </p:sp>
      <p:sp>
        <p:nvSpPr>
          <p:cNvPr id="108" name="Rounded Rectangle 107"/>
          <p:cNvSpPr/>
          <p:nvPr/>
        </p:nvSpPr>
        <p:spPr>
          <a:xfrm>
            <a:off x="731520" y="24688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Guardian in AutoSD VM · Pi</a:t>
            </a:r>
          </a:p>
        </p:txBody>
      </p:sp>
      <p:sp>
        <p:nvSpPr>
          <p:cNvPr id="109" name="Rounded Rectangle 108"/>
          <p:cNvSpPr/>
          <p:nvPr/>
        </p:nvSpPr>
        <p:spPr>
          <a:xfrm>
            <a:off x="731520" y="29260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Fail-safe logic</a:t>
            </a:r>
          </a:p>
        </p:txBody>
      </p:sp>
      <p:sp>
        <p:nvSpPr>
          <p:cNvPr id="110" name="Rounded Rectangle 109"/>
          <p:cNvSpPr/>
          <p:nvPr/>
        </p:nvSpPr>
        <p:spPr>
          <a:xfrm>
            <a:off x="731520" y="33832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Dashboard · Telegram · Gazebo</a:t>
            </a:r>
          </a:p>
        </p:txBody>
      </p:sp>
      <p:sp>
        <p:nvSpPr>
          <p:cNvPr id="111" name="Rounded Rectangle 110"/>
          <p:cNvSpPr/>
          <p:nvPr/>
        </p:nvSpPr>
        <p:spPr>
          <a:xfrm>
            <a:off x="4572000" y="15544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openDuT topology switch</a:t>
            </a:r>
          </a:p>
        </p:txBody>
      </p:sp>
      <p:sp>
        <p:nvSpPr>
          <p:cNvPr id="112" name="Rounded Rectangle 111"/>
          <p:cNvSpPr/>
          <p:nvPr/>
        </p:nvSpPr>
        <p:spPr>
          <a:xfrm>
            <a:off x="4572000" y="20116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Real OpenSOVD CDA</a:t>
            </a:r>
          </a:p>
        </p:txBody>
      </p:sp>
      <p:sp>
        <p:nvSpPr>
          <p:cNvPr id="113" name="Rounded Rectangle 112"/>
          <p:cNvSpPr/>
          <p:nvPr/>
        </p:nvSpPr>
        <p:spPr>
          <a:xfrm>
            <a:off x="4572000" y="24688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Cold warning (branch)</a:t>
            </a:r>
          </a:p>
        </p:txBody>
      </p:sp>
      <p:sp>
        <p:nvSpPr>
          <p:cNvPr id="114" name="Rounded Rectangle 113"/>
          <p:cNvSpPr/>
          <p:nvPr/>
        </p:nvSpPr>
        <p:spPr>
          <a:xfrm>
            <a:off x="4572000" y="29260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Humidity in decision</a:t>
            </a:r>
          </a:p>
        </p:txBody>
      </p:sp>
      <p:sp>
        <p:nvSpPr>
          <p:cNvPr id="115" name="Rounded Rectangle 114"/>
          <p:cNvSpPr/>
          <p:nvPr/>
        </p:nvSpPr>
        <p:spPr>
          <a:xfrm>
            <a:off x="4572000" y="33832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i="0">
                <a:solidFill>
                  <a:srgbClr val="531B4C"/>
                </a:solidFill>
                <a:latin typeface="Inter"/>
              </a:rPr>
              <a:t>→  Confidence &amp; trend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25" name="Google Shape;125;p21"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27" name="Google Shape;127;p21"/>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Contact</a:t>
            </a:r>
            <a:endParaRPr sz="400">
              <a:latin typeface="Inter ExtraBold"/>
              <a:ea typeface="Inter ExtraBold"/>
              <a:cs typeface="Inter ExtraBold"/>
              <a:sym typeface="Inter ExtraBold"/>
            </a:endParaRPr>
          </a:p>
        </p:txBody>
      </p:sp>
      <p:sp>
        <p:nvSpPr>
          <p:cNvPr id="128" name="TextBox 127"/>
          <p:cNvSpPr txBox="1"/>
          <p:nvPr/>
        </p:nvSpPr>
        <p:spPr>
          <a:xfrm>
            <a:off x="731520" y="1463040"/>
            <a:ext cx="4754880" cy="365760"/>
          </a:xfrm>
          <a:prstGeom prst="rect">
            <a:avLst/>
          </a:prstGeom>
          <a:noFill/>
        </p:spPr>
        <p:txBody>
          <a:bodyPr wrap="square" lIns="0" tIns="0" rIns="0" bIns="0" anchor="t">
            <a:spAutoFit/>
          </a:bodyPr>
          <a:lstStyle/>
          <a:p>
            <a:pPr algn="l"/>
            <a:r>
              <a:rPr sz="2200" b="1" i="0">
                <a:solidFill>
                  <a:srgbClr val="701C7F"/>
                </a:solidFill>
                <a:latin typeface="Inter"/>
              </a:rPr>
              <a:t>Bare-Metal-Mafia</a:t>
            </a:r>
          </a:p>
        </p:txBody>
      </p:sp>
      <p:sp>
        <p:nvSpPr>
          <p:cNvPr id="129" name="TextBox 128"/>
          <p:cNvSpPr txBox="1"/>
          <p:nvPr/>
        </p:nvSpPr>
        <p:spPr>
          <a:xfrm>
            <a:off x="739833" y="1965960"/>
            <a:ext cx="4754880" cy="200055"/>
          </a:xfrm>
          <a:prstGeom prst="rect">
            <a:avLst/>
          </a:prstGeom>
          <a:noFill/>
        </p:spPr>
        <p:txBody>
          <a:bodyPr wrap="square" lIns="0" tIns="0" rIns="0" bIns="0" anchor="t">
            <a:spAutoFit/>
          </a:bodyPr>
          <a:lstStyle/>
          <a:p>
            <a:r>
              <a:rPr sz="1300" b="0" i="0" dirty="0">
                <a:solidFill>
                  <a:srgbClr val="531B4C"/>
                </a:solidFill>
                <a:latin typeface="Inter"/>
              </a:rPr>
              <a:t>Elias · Lars · Terra · Dimitri · Katharina</a:t>
            </a:r>
            <a:r>
              <a:rPr lang="de-DE" sz="1300" dirty="0">
                <a:solidFill>
                  <a:srgbClr val="531B4C"/>
                </a:solidFill>
                <a:latin typeface="Inter"/>
              </a:rPr>
              <a:t> · Priya</a:t>
            </a:r>
            <a:endParaRPr sz="1300" b="0" i="0" dirty="0">
              <a:solidFill>
                <a:srgbClr val="531B4C"/>
              </a:solidFill>
              <a:latin typeface="Inter"/>
            </a:endParaRPr>
          </a:p>
        </p:txBody>
      </p:sp>
      <p:sp>
        <p:nvSpPr>
          <p:cNvPr id="130" name="Rounded Rectangle 129"/>
          <p:cNvSpPr/>
          <p:nvPr/>
        </p:nvSpPr>
        <p:spPr>
          <a:xfrm>
            <a:off x="731520" y="2788920"/>
            <a:ext cx="4572000" cy="457200"/>
          </a:xfrm>
          <a:prstGeom prst="roundRect">
            <a:avLst>
              <a:gd name="adj" fmla="val 18000"/>
            </a:avLst>
          </a:prstGeom>
          <a:solidFill>
            <a:srgbClr val="F6EEF8"/>
          </a:solidFill>
          <a:ln w="15875">
            <a:solidFill>
              <a:srgbClr val="701C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0" i="0">
                <a:solidFill>
                  <a:srgbClr val="531B4C"/>
                </a:solidFill>
                <a:latin typeface="Inter"/>
              </a:rPr>
              <a:t>github.com/Eclipse-SDV-Hackathon-Chapter-Four/Bare-Metal-Mafia</a:t>
            </a:r>
          </a:p>
        </p:txBody>
      </p:sp>
      <p:pic>
        <p:nvPicPr>
          <p:cNvPr id="131" name="Picture 130" descr="qr.png"/>
          <p:cNvPicPr>
            <a:picLocks noChangeAspect="1"/>
          </p:cNvPicPr>
          <p:nvPr/>
        </p:nvPicPr>
        <p:blipFill>
          <a:blip r:embed="rId4"/>
          <a:stretch>
            <a:fillRect/>
          </a:stretch>
        </p:blipFill>
        <p:spPr>
          <a:xfrm>
            <a:off x="5989320" y="1280160"/>
            <a:ext cx="2194560" cy="2194560"/>
          </a:xfrm>
          <a:prstGeom prst="rect">
            <a:avLst/>
          </a:prstGeom>
        </p:spPr>
      </p:pic>
      <p:sp>
        <p:nvSpPr>
          <p:cNvPr id="132" name="TextBox 131"/>
          <p:cNvSpPr txBox="1"/>
          <p:nvPr/>
        </p:nvSpPr>
        <p:spPr>
          <a:xfrm>
            <a:off x="5989320" y="3520440"/>
            <a:ext cx="2194560" cy="274320"/>
          </a:xfrm>
          <a:prstGeom prst="rect">
            <a:avLst/>
          </a:prstGeom>
          <a:noFill/>
        </p:spPr>
        <p:txBody>
          <a:bodyPr wrap="square" lIns="0" tIns="0" rIns="0" bIns="0" anchor="t">
            <a:spAutoFit/>
          </a:bodyPr>
          <a:lstStyle/>
          <a:p>
            <a:pPr algn="ctr"/>
            <a:r>
              <a:rPr sz="1000" b="0" i="0">
                <a:solidFill>
                  <a:srgbClr val="595959"/>
                </a:solidFill>
                <a:latin typeface="Inter"/>
              </a:rPr>
              <a:t>scan for the repo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131"/>
        <p:cNvGrpSpPr/>
        <p:nvPr/>
      </p:nvGrpSpPr>
      <p:grpSpPr>
        <a:xfrm>
          <a:off x="0" y="0"/>
          <a:ext cx="0" cy="0"/>
          <a:chOff x="0" y="0"/>
          <a:chExt cx="0" cy="0"/>
        </a:xfrm>
      </p:grpSpPr>
      <p:grpSp>
        <p:nvGrpSpPr>
          <p:cNvPr id="132" name="Google Shape;132;p22"/>
          <p:cNvGrpSpPr/>
          <p:nvPr/>
        </p:nvGrpSpPr>
        <p:grpSpPr>
          <a:xfrm>
            <a:off x="597450" y="4235100"/>
            <a:ext cx="2423155" cy="456311"/>
            <a:chOff x="0" y="-9525"/>
            <a:chExt cx="1344032" cy="415925"/>
          </a:xfrm>
        </p:grpSpPr>
        <p:sp>
          <p:nvSpPr>
            <p:cNvPr id="133" name="Google Shape;133;p22"/>
            <p:cNvSpPr/>
            <p:nvPr/>
          </p:nvSpPr>
          <p:spPr>
            <a:xfrm>
              <a:off x="0" y="0"/>
              <a:ext cx="1344032" cy="406400"/>
            </a:xfrm>
            <a:custGeom>
              <a:avLst/>
              <a:gdLst/>
              <a:ahLst/>
              <a:cxnLst/>
              <a:rect l="l" t="t" r="r" b="b"/>
              <a:pathLst>
                <a:path w="1344032" h="406400" extrusionOk="0">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w="13850" cap="sq" cmpd="sng">
              <a:solidFill>
                <a:srgbClr val="000000"/>
              </a:solidFill>
              <a:prstDash val="solid"/>
              <a:miter lim="8000"/>
              <a:headEnd type="none" w="sm" len="sm"/>
              <a:tailEnd type="none" w="sm" len="sm"/>
            </a:ln>
          </p:spPr>
          <p:txBody>
            <a:bodyPr spcFirstLastPara="1" wrap="square" lIns="66450" tIns="66450" rIns="66450" bIns="66450" anchor="ctr" anchorCtr="0">
              <a:noAutofit/>
            </a:bodyPr>
            <a:lstStyle/>
            <a:p>
              <a:pPr marL="0" lvl="0" indent="0" algn="l" rtl="0">
                <a:spcBef>
                  <a:spcPts val="0"/>
                </a:spcBef>
                <a:spcAft>
                  <a:spcPts val="0"/>
                </a:spcAft>
                <a:buNone/>
              </a:pPr>
              <a:endParaRPr/>
            </a:p>
          </p:txBody>
        </p:sp>
        <p:sp>
          <p:nvSpPr>
            <p:cNvPr id="134" name="Google Shape;134;p22"/>
            <p:cNvSpPr txBox="1"/>
            <p:nvPr/>
          </p:nvSpPr>
          <p:spPr>
            <a:xfrm>
              <a:off x="0" y="-9525"/>
              <a:ext cx="1344000" cy="415800"/>
            </a:xfrm>
            <a:prstGeom prst="rect">
              <a:avLst/>
            </a:prstGeom>
            <a:noFill/>
            <a:ln>
              <a:noFill/>
            </a:ln>
          </p:spPr>
          <p:txBody>
            <a:bodyPr spcFirstLastPara="1" wrap="square" lIns="36900" tIns="36900" rIns="36900" bIns="36900" anchor="ctr" anchorCtr="0">
              <a:noAutofit/>
            </a:bodyPr>
            <a:lstStyle/>
            <a:p>
              <a:pPr marL="0" marR="0" lvl="0" indent="0" algn="ctr" rtl="0">
                <a:lnSpc>
                  <a:spcPct val="120000"/>
                </a:lnSpc>
                <a:spcBef>
                  <a:spcPts val="0"/>
                </a:spcBef>
                <a:spcAft>
                  <a:spcPts val="0"/>
                </a:spcAft>
                <a:buNone/>
              </a:pPr>
              <a:endParaRPr sz="1308" b="0" i="0" u="none" strike="noStrike" cap="none">
                <a:solidFill>
                  <a:schemeClr val="dk1"/>
                </a:solidFill>
                <a:latin typeface="Calibri"/>
                <a:ea typeface="Calibri"/>
                <a:cs typeface="Calibri"/>
                <a:sym typeface="Calibri"/>
              </a:endParaRPr>
            </a:p>
          </p:txBody>
        </p:sp>
      </p:grpSp>
      <p:sp>
        <p:nvSpPr>
          <p:cNvPr id="135" name="Google Shape;135;p22"/>
          <p:cNvSpPr txBox="1"/>
          <p:nvPr/>
        </p:nvSpPr>
        <p:spPr>
          <a:xfrm>
            <a:off x="531150" y="1979650"/>
            <a:ext cx="5610600" cy="456300"/>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a:solidFill>
                  <a:srgbClr val="FFFFFF"/>
                </a:solidFill>
              </a:rPr>
              <a:t>Thank you!</a:t>
            </a:r>
            <a:endParaRPr sz="2800" b="1">
              <a:solidFill>
                <a:srgbClr val="DB521D"/>
              </a:solidFill>
            </a:endParaRPr>
          </a:p>
        </p:txBody>
      </p:sp>
      <p:grpSp>
        <p:nvGrpSpPr>
          <p:cNvPr id="136" name="Google Shape;136;p22"/>
          <p:cNvGrpSpPr/>
          <p:nvPr/>
        </p:nvGrpSpPr>
        <p:grpSpPr>
          <a:xfrm>
            <a:off x="560650" y="2571750"/>
            <a:ext cx="4855381" cy="958407"/>
            <a:chOff x="0" y="-9525"/>
            <a:chExt cx="935400" cy="374100"/>
          </a:xfrm>
        </p:grpSpPr>
        <p:sp>
          <p:nvSpPr>
            <p:cNvPr id="137" name="Google Shape;137;p22"/>
            <p:cNvSpPr/>
            <p:nvPr/>
          </p:nvSpPr>
          <p:spPr>
            <a:xfrm>
              <a:off x="0" y="0"/>
              <a:ext cx="935371" cy="364517"/>
            </a:xfrm>
            <a:custGeom>
              <a:avLst/>
              <a:gdLst/>
              <a:ahLst/>
              <a:cxnLst/>
              <a:rect l="l" t="t" r="r" b="b"/>
              <a:pathLst>
                <a:path w="935371" h="364517" extrusionOk="0">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w="9525" cap="sq" cmpd="sng">
              <a:solidFill>
                <a:srgbClr val="000000"/>
              </a:solidFill>
              <a:prstDash val="solid"/>
              <a:miter lim="8000"/>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38" name="Google Shape;138;p22"/>
            <p:cNvSpPr txBox="1"/>
            <p:nvPr/>
          </p:nvSpPr>
          <p:spPr>
            <a:xfrm>
              <a:off x="0" y="-9525"/>
              <a:ext cx="935400" cy="374100"/>
            </a:xfrm>
            <a:prstGeom prst="rect">
              <a:avLst/>
            </a:prstGeom>
            <a:noFill/>
            <a:ln>
              <a:noFill/>
            </a:ln>
          </p:spPr>
          <p:txBody>
            <a:bodyPr spcFirstLastPara="1" wrap="square" lIns="25400" tIns="25400" rIns="25400" bIns="25400" anchor="ctr" anchorCtr="0">
              <a:noAutofit/>
            </a:bodyPr>
            <a:lstStyle/>
            <a:p>
              <a:pPr marL="0" marR="0" lvl="0" indent="0" algn="ctr" rtl="0">
                <a:lnSpc>
                  <a:spcPct val="120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39" name="Google Shape;139;p22"/>
          <p:cNvSpPr txBox="1"/>
          <p:nvPr/>
        </p:nvSpPr>
        <p:spPr>
          <a:xfrm>
            <a:off x="928825" y="4362650"/>
            <a:ext cx="1760400" cy="169200"/>
          </a:xfrm>
          <a:prstGeom prst="rect">
            <a:avLst/>
          </a:prstGeom>
          <a:noFill/>
          <a:ln>
            <a:noFill/>
          </a:ln>
        </p:spPr>
        <p:txBody>
          <a:bodyPr spcFirstLastPara="1" wrap="square" lIns="0" tIns="0" rIns="0" bIns="0" anchor="t" anchorCtr="0">
            <a:spAutoFit/>
          </a:bodyPr>
          <a:lstStyle/>
          <a:p>
            <a:pPr marL="0" marR="0" lvl="0" indent="0" algn="ctr" rtl="0">
              <a:lnSpc>
                <a:spcPct val="120008"/>
              </a:lnSpc>
              <a:spcBef>
                <a:spcPts val="0"/>
              </a:spcBef>
              <a:spcAft>
                <a:spcPts val="0"/>
              </a:spcAft>
              <a:buNone/>
            </a:pPr>
            <a:r>
              <a:rPr lang="en" sz="1100" b="1">
                <a:solidFill>
                  <a:srgbClr val="FFFFFF"/>
                </a:solidFill>
                <a:latin typeface="Sora"/>
                <a:ea typeface="Sora"/>
                <a:cs typeface="Sora"/>
                <a:sym typeface="Sora"/>
              </a:rPr>
              <a:t>October 6-8 </a:t>
            </a:r>
            <a:r>
              <a:rPr lang="en" sz="1100" b="1" i="0" u="none" strike="noStrike" cap="none">
                <a:solidFill>
                  <a:srgbClr val="FFFFFF"/>
                </a:solidFill>
                <a:latin typeface="Sora"/>
                <a:ea typeface="Sora"/>
                <a:cs typeface="Sora"/>
                <a:sym typeface="Sora"/>
              </a:rPr>
              <a:t> 2026</a:t>
            </a:r>
            <a:endParaRPr sz="700" b="1">
              <a:latin typeface="Sora"/>
              <a:ea typeface="Sora"/>
              <a:cs typeface="Sora"/>
              <a:sym typeface="Sora"/>
            </a:endParaRPr>
          </a:p>
        </p:txBody>
      </p:sp>
      <p:cxnSp>
        <p:nvCxnSpPr>
          <p:cNvPr id="140" name="Google Shape;140;p22"/>
          <p:cNvCxnSpPr/>
          <p:nvPr/>
        </p:nvCxnSpPr>
        <p:spPr>
          <a:xfrm>
            <a:off x="656394" y="3946404"/>
            <a:ext cx="2148300" cy="0"/>
          </a:xfrm>
          <a:prstGeom prst="straightConnector1">
            <a:avLst/>
          </a:prstGeom>
          <a:noFill/>
          <a:ln w="19050" cap="flat" cmpd="sng">
            <a:solidFill>
              <a:srgbClr val="000000"/>
            </a:solidFill>
            <a:prstDash val="solid"/>
            <a:round/>
            <a:headEnd type="none" w="sm" len="sm"/>
            <a:tailEnd type="none" w="sm" len="sm"/>
          </a:ln>
        </p:spPr>
      </p:cxnSp>
      <p:sp>
        <p:nvSpPr>
          <p:cNvPr id="141" name="Google Shape;141;p22"/>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de-DE"/>
          </a:p>
        </p:txBody>
      </p:sp>
      <p:sp>
        <p:nvSpPr>
          <p:cNvPr id="142" name="Google Shape;142;p22"/>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de-DE"/>
          </a:p>
        </p:txBody>
      </p:sp>
      <p:pic>
        <p:nvPicPr>
          <p:cNvPr id="143" name="Google Shape;143;p22"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144" name="Google Shape;144;p22"/>
          <p:cNvSpPr txBox="1"/>
          <p:nvPr/>
        </p:nvSpPr>
        <p:spPr>
          <a:xfrm>
            <a:off x="850225" y="2767913"/>
            <a:ext cx="4122600" cy="62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Inter"/>
                <a:ea typeface="Inter"/>
                <a:cs typeface="Inter"/>
                <a:sym typeface="Inter"/>
              </a:rPr>
              <a:t>Questions?  Come see the demo.</a:t>
            </a:r>
            <a:endParaRPr sz="1800" b="1">
              <a:solidFill>
                <a:schemeClr val="lt1"/>
              </a:solidFill>
              <a:latin typeface="Inter"/>
              <a:ea typeface="Inter"/>
              <a:cs typeface="Inter"/>
              <a:sym typeface="Inter"/>
            </a:endParaRPr>
          </a:p>
        </p:txBody>
      </p:sp>
      <p:sp>
        <p:nvSpPr>
          <p:cNvPr id="145" name="Google Shape;145;p22"/>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1709</Words>
  <Application>Microsoft Macintosh PowerPoint</Application>
  <PresentationFormat>On-screen Show (16:9)</PresentationFormat>
  <Paragraphs>215</Paragraphs>
  <Slides>13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Sora</vt:lpstr>
      <vt:lpstr>Inter</vt:lpstr>
      <vt:lpstr>Calibri</vt:lpstr>
      <vt:lpstr>Consolas</vt:lpstr>
      <vt:lpstr>Arial</vt:lpstr>
      <vt:lpstr>Roboto</vt:lpstr>
      <vt:lpstr>Inter ExtraBold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Swamy, Shunmugapriya (Stud SRH-University)</cp:lastModifiedBy>
  <cp:revision>8</cp:revision>
  <dcterms:modified xsi:type="dcterms:W3CDTF">2026-10-08T08:46:28Z</dcterms:modified>
</cp:coreProperties>
</file>